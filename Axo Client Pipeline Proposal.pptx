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6debcd80-e7b1-1602-02a6-afd95a972626}">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in one line: the early sales work is done before you spend any time on it. Then show how it works and how we test it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point: early-stage work is repetitive and the founder's time is the scarce resource. Source for the last line: the Axo website, opened 28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site is inconsistent about Ireland and Peru, so say 'five markets' and be ready to be corrected on which are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Axo works across B2C, B2B and B2B2C. The same pipeline serves all three; only the target list changes. The first test focuses on one route so the results are easy to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clay.com and clay.com/pricing, opened 28 October 2026. Paid plans start at roughly $167 to $185 a month; the pricing page shows two different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phases. The tool does the finding and scoring, I approve and send everything, and you only get involved at the hand-over. 'Ready to talk' here means a booked meeting with a qualified prospect; ask whether that is the right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types come from how Axo sells (B2C, B2B, B2B2C). Timing signals such as job changes would need a paid Clay plan, so on the free plan fit comes from each company's own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mock-up to show the output, with a fictional company. In the test I would produce one of these from a pretend reply so you can judge whether it contains what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success test is proposed, not agreed. I haven't checked how many credits each lookup uses, so the test will also show how far 100 credits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the test is free. An own build has not been priced for this pipeline; the earlier WhatsApp assistant came to about $11 to $20 a month on assumed volumes. Clay paid plans: Launch about $167 to $185, Growth about $446 to $495. Safety: Axo handles health data under GDPR and says member data is not shared with employers or insurers, so employer messages must stay consistent with that. I have not reviewed Clay's data terms or the outreach rules in each country, so both are checks before any real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a yes to the free test and an answer on which client type and country to trial first. Also ask what Axo would offer these clients (price, discount or referral fee), because a first message needs an offer, and what counts as 'nearly closed'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640080" y="1188720"/>
            <a:ext cx="786384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640080" y="2834640"/>
            <a:ext cx="731520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640080" y="1097280"/>
            <a:ext cx="466344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640080" y="2560320"/>
            <a:ext cx="448056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800600"/>
            <a:ext cx="4572000" cy="228600"/>
          </a:xfrm>
          <a:prstGeom prst="rect">
            <a:avLst/>
          </a:prstGeom>
          <a:noFill/>
          <a:ln/>
        </p:spPr>
        <p:txBody>
          <a:bodyPr wrap="square" lIns="0" tIns="0" rIns="0" bIns="0" rtlCol="0" anchor="ctr"/>
          <a:lstStyle/>
          <a:p>
            <a:pPr indent="0" marL="0">
              <a:buNone/>
            </a:pPr>
            <a:r>
              <a:rPr lang="en-US" sz="1000" dirty="0">
                <a:solidFill>
                  <a:schemeClr val="tx2"/>
                </a:solidFill>
              </a:rPr>
              <a:t>Axo  |  Client pipeline proposal</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640080" y="1417320"/>
            <a:ext cx="7680960" cy="17373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640080" y="1417320"/>
            <a:ext cx="7680960" cy="1737360"/>
          </a:xfrm>
          <a:prstGeom prst="rect">
            <a:avLst/>
          </a:prstGeom>
          <a:noFill/>
          <a:ln/>
        </p:spPr>
        <p:txBody>
          <a:bodyPr wrap="square" lIns="0" tIns="0" rIns="0" bIns="0" rtlCol="0" anchor="ctr"/>
          <a:lstStyle/>
          <a:p>
            <a:pPr algn="l" indent="0" marL="0">
              <a:buNone/>
            </a:pPr>
            <a:r>
              <a:rPr lang="en-US" sz="4600" b="1" dirty="0">
                <a:solidFill>
                  <a:schemeClr val="bg1"/>
                </a:solidFill>
              </a:rPr>
              <a:t>Qualified clients, handed to you ready</a:t>
            </a:r>
            <a:endParaRPr lang="en-US" sz="4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Your time is best spent closing</a:t>
            </a:r>
            <a:endParaRPr lang="en-US" sz="3000" dirty="0"/>
          </a:p>
        </p:txBody>
      </p:sp>
      <p:sp>
        <p:nvSpPr>
          <p:cNvPr id="3" name="Card The early work repeats"/>
          <p:cNvSpPr/>
          <p:nvPr/>
        </p:nvSpPr>
        <p:spPr>
          <a:xfrm>
            <a:off x="457200" y="1188720"/>
            <a:ext cx="2651760" cy="2514600"/>
          </a:xfrm>
          <a:prstGeom prst="roundRect">
            <a:avLst>
              <a:gd name="adj" fmla="val 4364"/>
            </a:avLst>
          </a:prstGeom>
          <a:solidFill>
            <a:schemeClr val="bg2"/>
          </a:solidFill>
          <a:ln/>
        </p:spPr>
      </p:sp>
      <p:sp>
        <p:nvSpPr>
          <p:cNvPr id="4" name="Icon The early work repeats"/>
          <p:cNvSpPr/>
          <p:nvPr/>
        </p:nvSpPr>
        <p:spPr>
          <a:xfrm>
            <a:off x="640080" y="1371600"/>
            <a:ext cx="548640" cy="548640"/>
          </a:xfrm>
          <a:prstGeom prst="ellipse">
            <a:avLst/>
          </a:prstGeom>
          <a:solidFill>
            <a:schemeClr val="accent1"/>
          </a:solidFill>
          <a:ln/>
        </p:spPr>
      </p:sp>
      <p:pic>
        <p:nvPicPr>
          <p:cNvPr id="5" name="Image 0" descr="icon">    </p:cNvPr>
          <p:cNvPicPr>
            <a:picLocks noChangeAspect="1"/>
          </p:cNvPicPr>
          <p:nvPr/>
        </p:nvPicPr>
        <p:blipFill>
          <a:blip r:embed="rId1"/>
          <a:stretch>
            <a:fillRect/>
          </a:stretch>
        </p:blipFill>
        <p:spPr>
          <a:xfrm>
            <a:off x="793699" y="1525219"/>
            <a:ext cx="241402" cy="241402"/>
          </a:xfrm>
          <a:prstGeom prst="rect">
            <a:avLst/>
          </a:prstGeom>
        </p:spPr>
      </p:pic>
      <p:sp>
        <p:nvSpPr>
          <p:cNvPr id="6" name="Heading The early work repeats"/>
          <p:cNvSpPr txBox="1"/>
          <p:nvPr/>
        </p:nvSpPr>
        <p:spPr>
          <a:xfrm>
            <a:off x="640080" y="2057400"/>
            <a:ext cx="2286000" cy="320040"/>
          </a:xfrm>
          <a:prstGeom prst="rect">
            <a:avLst/>
          </a:prstGeom>
          <a:noFill/>
          <a:ln/>
        </p:spPr>
        <p:txBody>
          <a:bodyPr wrap="square" lIns="0" tIns="0" rIns="0" bIns="0" rtlCol="0" anchor="ctr"/>
          <a:lstStyle/>
          <a:p>
            <a:pPr indent="0" marL="0">
              <a:buNone/>
            </a:pPr>
            <a:r>
              <a:rPr lang="en-US" sz="1600" b="1" dirty="0">
                <a:solidFill>
                  <a:schemeClr val="tx2"/>
                </a:solidFill>
              </a:rPr>
              <a:t>The early work repeats</a:t>
            </a:r>
            <a:endParaRPr lang="en-US" sz="1600" dirty="0"/>
          </a:p>
        </p:txBody>
      </p:sp>
      <p:sp>
        <p:nvSpPr>
          <p:cNvPr id="7" name="Text The early work repeats"/>
          <p:cNvSpPr txBox="1"/>
          <p:nvPr/>
        </p:nvSpPr>
        <p:spPr>
          <a:xfrm>
            <a:off x="640080" y="2423160"/>
            <a:ext cx="2286000" cy="1188720"/>
          </a:xfrm>
          <a:prstGeom prst="rect">
            <a:avLst/>
          </a:prstGeom>
          <a:noFill/>
          <a:ln/>
        </p:spPr>
        <p:txBody>
          <a:bodyPr wrap="square" lIns="0" tIns="0" rIns="0" bIns="0" rtlCol="0" anchor="t"/>
          <a:lstStyle/>
          <a:p>
            <a:pPr indent="0" marL="0">
              <a:buNone/>
            </a:pPr>
            <a:r>
              <a:rPr lang="en-US" sz="1400" dirty="0">
                <a:solidFill>
                  <a:schemeClr val="tx1"/>
                </a:solidFill>
              </a:rPr>
              <a:t>Finding companies, researching them, writing a first message and chasing replies is the same job every time.</a:t>
            </a:r>
            <a:endParaRPr lang="en-US" sz="1400" dirty="0"/>
          </a:p>
        </p:txBody>
      </p:sp>
      <p:sp>
        <p:nvSpPr>
          <p:cNvPr id="8" name="Card Your time is scarce"/>
          <p:cNvSpPr/>
          <p:nvPr/>
        </p:nvSpPr>
        <p:spPr>
          <a:xfrm>
            <a:off x="3246120" y="1188720"/>
            <a:ext cx="2651760" cy="2514600"/>
          </a:xfrm>
          <a:prstGeom prst="roundRect">
            <a:avLst>
              <a:gd name="adj" fmla="val 4364"/>
            </a:avLst>
          </a:prstGeom>
          <a:solidFill>
            <a:schemeClr val="bg2"/>
          </a:solidFill>
          <a:ln/>
        </p:spPr>
      </p:sp>
      <p:sp>
        <p:nvSpPr>
          <p:cNvPr id="9" name="Icon Your time is scarce"/>
          <p:cNvSpPr/>
          <p:nvPr/>
        </p:nvSpPr>
        <p:spPr>
          <a:xfrm>
            <a:off x="3429000" y="1371600"/>
            <a:ext cx="548640" cy="548640"/>
          </a:xfrm>
          <a:prstGeom prst="ellipse">
            <a:avLst/>
          </a:prstGeom>
          <a:solidFill>
            <a:schemeClr val="accent1"/>
          </a:solidFill>
          <a:ln/>
        </p:spPr>
      </p:sp>
      <p:pic>
        <p:nvPicPr>
          <p:cNvPr id="10" name="Image 1" descr="icon">    </p:cNvPr>
          <p:cNvPicPr>
            <a:picLocks noChangeAspect="1"/>
          </p:cNvPicPr>
          <p:nvPr/>
        </p:nvPicPr>
        <p:blipFill>
          <a:blip r:embed="rId2"/>
          <a:stretch>
            <a:fillRect/>
          </a:stretch>
        </p:blipFill>
        <p:spPr>
          <a:xfrm>
            <a:off x="3582619" y="1525219"/>
            <a:ext cx="241402" cy="241402"/>
          </a:xfrm>
          <a:prstGeom prst="rect">
            <a:avLst/>
          </a:prstGeom>
        </p:spPr>
      </p:pic>
      <p:sp>
        <p:nvSpPr>
          <p:cNvPr id="11" name="Heading Your time is scarce"/>
          <p:cNvSpPr txBox="1"/>
          <p:nvPr/>
        </p:nvSpPr>
        <p:spPr>
          <a:xfrm>
            <a:off x="3429000" y="2057400"/>
            <a:ext cx="2286000" cy="320040"/>
          </a:xfrm>
          <a:prstGeom prst="rect">
            <a:avLst/>
          </a:prstGeom>
          <a:noFill/>
          <a:ln/>
        </p:spPr>
        <p:txBody>
          <a:bodyPr wrap="square" lIns="0" tIns="0" rIns="0" bIns="0" rtlCol="0" anchor="ctr"/>
          <a:lstStyle/>
          <a:p>
            <a:pPr indent="0" marL="0">
              <a:buNone/>
            </a:pPr>
            <a:r>
              <a:rPr lang="en-US" sz="1600" b="1" dirty="0">
                <a:solidFill>
                  <a:schemeClr val="tx2"/>
                </a:solidFill>
              </a:rPr>
              <a:t>Your time is scarce</a:t>
            </a:r>
            <a:endParaRPr lang="en-US" sz="1600" dirty="0"/>
          </a:p>
        </p:txBody>
      </p:sp>
      <p:sp>
        <p:nvSpPr>
          <p:cNvPr id="12" name="Text Your time is scarce"/>
          <p:cNvSpPr txBox="1"/>
          <p:nvPr/>
        </p:nvSpPr>
        <p:spPr>
          <a:xfrm>
            <a:off x="3429000" y="2423160"/>
            <a:ext cx="2286000" cy="1188720"/>
          </a:xfrm>
          <a:prstGeom prst="rect">
            <a:avLst/>
          </a:prstGeom>
          <a:noFill/>
          <a:ln/>
        </p:spPr>
        <p:txBody>
          <a:bodyPr wrap="square" lIns="0" tIns="0" rIns="0" bIns="0" rtlCol="0" anchor="t"/>
          <a:lstStyle/>
          <a:p>
            <a:pPr indent="0" marL="0">
              <a:buNone/>
            </a:pPr>
            <a:r>
              <a:rPr lang="en-US" sz="1400" dirty="0">
                <a:solidFill>
                  <a:schemeClr val="tx1"/>
                </a:solidFill>
              </a:rPr>
              <a:t>You should meet clients who are nearly ready, not people who have only just been found.</a:t>
            </a:r>
            <a:endParaRPr lang="en-US" sz="1400" dirty="0"/>
          </a:p>
        </p:txBody>
      </p:sp>
      <p:sp>
        <p:nvSpPr>
          <p:cNvPr id="13" name="Card The risk is low"/>
          <p:cNvSpPr/>
          <p:nvPr/>
        </p:nvSpPr>
        <p:spPr>
          <a:xfrm>
            <a:off x="6035040" y="1188720"/>
            <a:ext cx="2651760" cy="2514600"/>
          </a:xfrm>
          <a:prstGeom prst="roundRect">
            <a:avLst>
              <a:gd name="adj" fmla="val 4364"/>
            </a:avLst>
          </a:prstGeom>
          <a:solidFill>
            <a:schemeClr val="bg2"/>
          </a:solidFill>
          <a:ln/>
        </p:spPr>
      </p:sp>
      <p:sp>
        <p:nvSpPr>
          <p:cNvPr id="14" name="Icon The risk is low"/>
          <p:cNvSpPr/>
          <p:nvPr/>
        </p:nvSpPr>
        <p:spPr>
          <a:xfrm>
            <a:off x="6217920" y="1371600"/>
            <a:ext cx="548640" cy="548640"/>
          </a:xfrm>
          <a:prstGeom prst="ellipse">
            <a:avLst/>
          </a:prstGeom>
          <a:solidFill>
            <a:schemeClr val="accent1"/>
          </a:solidFill>
          <a:ln/>
        </p:spPr>
      </p:sp>
      <p:pic>
        <p:nvPicPr>
          <p:cNvPr id="15" name="Image 2" descr="icon">    </p:cNvPr>
          <p:cNvPicPr>
            <a:picLocks noChangeAspect="1"/>
          </p:cNvPicPr>
          <p:nvPr/>
        </p:nvPicPr>
        <p:blipFill>
          <a:blip r:embed="rId3"/>
          <a:stretch>
            <a:fillRect/>
          </a:stretch>
        </p:blipFill>
        <p:spPr>
          <a:xfrm>
            <a:off x="6371539" y="1525219"/>
            <a:ext cx="241402" cy="241402"/>
          </a:xfrm>
          <a:prstGeom prst="rect">
            <a:avLst/>
          </a:prstGeom>
        </p:spPr>
      </p:pic>
      <p:sp>
        <p:nvSpPr>
          <p:cNvPr id="16" name="Heading The risk is low"/>
          <p:cNvSpPr txBox="1"/>
          <p:nvPr/>
        </p:nvSpPr>
        <p:spPr>
          <a:xfrm>
            <a:off x="6217920" y="2057400"/>
            <a:ext cx="2286000" cy="320040"/>
          </a:xfrm>
          <a:prstGeom prst="rect">
            <a:avLst/>
          </a:prstGeom>
          <a:noFill/>
          <a:ln/>
        </p:spPr>
        <p:txBody>
          <a:bodyPr wrap="square" lIns="0" tIns="0" rIns="0" bIns="0" rtlCol="0" anchor="ctr"/>
          <a:lstStyle/>
          <a:p>
            <a:pPr indent="0" marL="0">
              <a:buNone/>
            </a:pPr>
            <a:r>
              <a:rPr lang="en-US" sz="1600" b="1" dirty="0">
                <a:solidFill>
                  <a:schemeClr val="tx2"/>
                </a:solidFill>
              </a:rPr>
              <a:t>The risk is low</a:t>
            </a:r>
            <a:endParaRPr lang="en-US" sz="1600" dirty="0"/>
          </a:p>
        </p:txBody>
      </p:sp>
      <p:sp>
        <p:nvSpPr>
          <p:cNvPr id="17" name="Text The risk is low"/>
          <p:cNvSpPr txBox="1"/>
          <p:nvPr/>
        </p:nvSpPr>
        <p:spPr>
          <a:xfrm>
            <a:off x="6217920" y="2423160"/>
            <a:ext cx="2286000" cy="1188720"/>
          </a:xfrm>
          <a:prstGeom prst="rect">
            <a:avLst/>
          </a:prstGeom>
          <a:noFill/>
          <a:ln/>
        </p:spPr>
        <p:txBody>
          <a:bodyPr wrap="square" lIns="0" tIns="0" rIns="0" bIns="0" rtlCol="0" anchor="t"/>
          <a:lstStyle/>
          <a:p>
            <a:pPr indent="0" marL="0">
              <a:buNone/>
            </a:pPr>
            <a:r>
              <a:rPr lang="en-US" sz="1400" dirty="0">
                <a:solidFill>
                  <a:schemeClr val="tx1"/>
                </a:solidFill>
              </a:rPr>
              <a:t>A free test, public information only, and nothing is sent without a person approving it.</a:t>
            </a:r>
            <a:endParaRPr lang="en-US" sz="1400" dirty="0"/>
          </a:p>
        </p:txBody>
      </p:sp>
      <p:sp>
        <p:nvSpPr>
          <p:cNvPr id="18" name="Context note"/>
          <p:cNvSpPr txBox="1"/>
          <p:nvPr/>
        </p:nvSpPr>
        <p:spPr>
          <a:xfrm>
            <a:off x="457200" y="3931920"/>
            <a:ext cx="8229600" cy="548640"/>
          </a:xfrm>
          <a:prstGeom prst="rect">
            <a:avLst/>
          </a:prstGeom>
          <a:noFill/>
          <a:ln/>
        </p:spPr>
        <p:txBody>
          <a:bodyPr wrap="square" lIns="0" tIns="0" rIns="0" bIns="0" rtlCol="0" anchor="t"/>
          <a:lstStyle/>
          <a:p>
            <a:pPr indent="0" marL="0">
              <a:buNone/>
            </a:pPr>
            <a:r>
              <a:rPr lang="en-US" sz="1200" i="1" dirty="0">
                <a:solidFill>
                  <a:schemeClr val="tx2"/>
                </a:solidFill>
              </a:rPr>
              <a:t>On axolongevity.com today, employers and practitioners reach Axo through one shared contact form, and no programme for them is described.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Axo today: one membership, five markets</a:t>
            </a:r>
            <a:endParaRPr lang="en-US" sz="3000" dirty="0"/>
          </a:p>
        </p:txBody>
      </p:sp>
      <p:sp>
        <p:nvSpPr>
          <p:cNvPr id="3" name="Stat €490"/>
          <p:cNvSpPr/>
          <p:nvPr/>
        </p:nvSpPr>
        <p:spPr>
          <a:xfrm>
            <a:off x="457200" y="1188720"/>
            <a:ext cx="1920240" cy="1920240"/>
          </a:xfrm>
          <a:prstGeom prst="roundRect">
            <a:avLst>
              <a:gd name="adj" fmla="val 5714"/>
            </a:avLst>
          </a:prstGeom>
          <a:solidFill>
            <a:schemeClr val="tx2"/>
          </a:solidFill>
          <a:ln/>
        </p:spPr>
      </p:sp>
      <p:sp>
        <p:nvSpPr>
          <p:cNvPr id="4" name="Stat number €490"/>
          <p:cNvSpPr txBox="1"/>
          <p:nvPr/>
        </p:nvSpPr>
        <p:spPr>
          <a:xfrm>
            <a:off x="594360" y="1325880"/>
            <a:ext cx="1645920" cy="731520"/>
          </a:xfrm>
          <a:prstGeom prst="rect">
            <a:avLst/>
          </a:prstGeom>
          <a:noFill/>
          <a:ln/>
        </p:spPr>
        <p:txBody>
          <a:bodyPr wrap="square" lIns="0" tIns="0" rIns="0" bIns="0" rtlCol="0" anchor="ctr"/>
          <a:lstStyle/>
          <a:p>
            <a:pPr indent="0" marL="0">
              <a:buNone/>
            </a:pPr>
            <a:r>
              <a:rPr lang="en-US" sz="3800" b="1" dirty="0">
                <a:solidFill>
                  <a:schemeClr val="accent2"/>
                </a:solidFill>
              </a:rPr>
              <a:t>€490</a:t>
            </a:r>
            <a:endParaRPr lang="en-US" sz="3800" dirty="0"/>
          </a:p>
        </p:txBody>
      </p:sp>
      <p:sp>
        <p:nvSpPr>
          <p:cNvPr id="5" name="Stat label €490"/>
          <p:cNvSpPr txBox="1"/>
          <p:nvPr/>
        </p:nvSpPr>
        <p:spPr>
          <a:xfrm>
            <a:off x="594360" y="2103120"/>
            <a:ext cx="1645920" cy="914400"/>
          </a:xfrm>
          <a:prstGeom prst="rect">
            <a:avLst/>
          </a:prstGeom>
          <a:noFill/>
          <a:ln/>
        </p:spPr>
        <p:txBody>
          <a:bodyPr wrap="square" lIns="0" tIns="0" rIns="0" bIns="0" rtlCol="0" anchor="t"/>
          <a:lstStyle/>
          <a:p>
            <a:pPr indent="0" marL="0">
              <a:buNone/>
            </a:pPr>
            <a:r>
              <a:rPr lang="en-US" sz="1400" dirty="0">
                <a:solidFill>
                  <a:schemeClr val="bg1"/>
                </a:solidFill>
              </a:rPr>
              <a:t>a year for the membership</a:t>
            </a:r>
            <a:endParaRPr lang="en-US" sz="1400" dirty="0"/>
          </a:p>
        </p:txBody>
      </p:sp>
      <p:sp>
        <p:nvSpPr>
          <p:cNvPr id="6" name="Stat 100+"/>
          <p:cNvSpPr/>
          <p:nvPr/>
        </p:nvSpPr>
        <p:spPr>
          <a:xfrm>
            <a:off x="2560320" y="1188720"/>
            <a:ext cx="1920240" cy="1920240"/>
          </a:xfrm>
          <a:prstGeom prst="roundRect">
            <a:avLst>
              <a:gd name="adj" fmla="val 5714"/>
            </a:avLst>
          </a:prstGeom>
          <a:solidFill>
            <a:schemeClr val="tx2"/>
          </a:solidFill>
          <a:ln/>
        </p:spPr>
      </p:sp>
      <p:sp>
        <p:nvSpPr>
          <p:cNvPr id="7" name="Stat number 100+"/>
          <p:cNvSpPr txBox="1"/>
          <p:nvPr/>
        </p:nvSpPr>
        <p:spPr>
          <a:xfrm>
            <a:off x="2697480" y="1325880"/>
            <a:ext cx="1645920" cy="731520"/>
          </a:xfrm>
          <a:prstGeom prst="rect">
            <a:avLst/>
          </a:prstGeom>
          <a:noFill/>
          <a:ln/>
        </p:spPr>
        <p:txBody>
          <a:bodyPr wrap="square" lIns="0" tIns="0" rIns="0" bIns="0" rtlCol="0" anchor="ctr"/>
          <a:lstStyle/>
          <a:p>
            <a:pPr indent="0" marL="0">
              <a:buNone/>
            </a:pPr>
            <a:r>
              <a:rPr lang="en-US" sz="3800" b="1" dirty="0">
                <a:solidFill>
                  <a:schemeClr val="accent2"/>
                </a:solidFill>
              </a:rPr>
              <a:t>100+</a:t>
            </a:r>
            <a:endParaRPr lang="en-US" sz="3800" dirty="0"/>
          </a:p>
        </p:txBody>
      </p:sp>
      <p:sp>
        <p:nvSpPr>
          <p:cNvPr id="8" name="Stat label 100+"/>
          <p:cNvSpPr txBox="1"/>
          <p:nvPr/>
        </p:nvSpPr>
        <p:spPr>
          <a:xfrm>
            <a:off x="2697480" y="2103120"/>
            <a:ext cx="1645920" cy="914400"/>
          </a:xfrm>
          <a:prstGeom prst="rect">
            <a:avLst/>
          </a:prstGeom>
          <a:noFill/>
          <a:ln/>
        </p:spPr>
        <p:txBody>
          <a:bodyPr wrap="square" lIns="0" tIns="0" rIns="0" bIns="0" rtlCol="0" anchor="t"/>
          <a:lstStyle/>
          <a:p>
            <a:pPr indent="0" marL="0">
              <a:buNone/>
            </a:pPr>
            <a:r>
              <a:rPr lang="en-US" sz="1400" dirty="0">
                <a:solidFill>
                  <a:schemeClr val="bg1"/>
                </a:solidFill>
              </a:rPr>
              <a:t>biomarkers tested, twice a year</a:t>
            </a:r>
            <a:endParaRPr lang="en-US" sz="1400" dirty="0"/>
          </a:p>
        </p:txBody>
      </p:sp>
      <p:sp>
        <p:nvSpPr>
          <p:cNvPr id="9" name="Stat 5"/>
          <p:cNvSpPr/>
          <p:nvPr/>
        </p:nvSpPr>
        <p:spPr>
          <a:xfrm>
            <a:off x="4663440" y="1188720"/>
            <a:ext cx="1920240" cy="1920240"/>
          </a:xfrm>
          <a:prstGeom prst="roundRect">
            <a:avLst>
              <a:gd name="adj" fmla="val 5714"/>
            </a:avLst>
          </a:prstGeom>
          <a:solidFill>
            <a:schemeClr val="tx2"/>
          </a:solidFill>
          <a:ln/>
        </p:spPr>
      </p:sp>
      <p:sp>
        <p:nvSpPr>
          <p:cNvPr id="10" name="Stat number 5"/>
          <p:cNvSpPr txBox="1"/>
          <p:nvPr/>
        </p:nvSpPr>
        <p:spPr>
          <a:xfrm>
            <a:off x="4800600" y="1325880"/>
            <a:ext cx="1645920" cy="731520"/>
          </a:xfrm>
          <a:prstGeom prst="rect">
            <a:avLst/>
          </a:prstGeom>
          <a:noFill/>
          <a:ln/>
        </p:spPr>
        <p:txBody>
          <a:bodyPr wrap="square" lIns="0" tIns="0" rIns="0" bIns="0" rtlCol="0" anchor="ctr"/>
          <a:lstStyle/>
          <a:p>
            <a:pPr indent="0" marL="0">
              <a:buNone/>
            </a:pPr>
            <a:r>
              <a:rPr lang="en-US" sz="3800" b="1" dirty="0">
                <a:solidFill>
                  <a:schemeClr val="accent2"/>
                </a:solidFill>
              </a:rPr>
              <a:t>5</a:t>
            </a:r>
            <a:endParaRPr lang="en-US" sz="3800" dirty="0"/>
          </a:p>
        </p:txBody>
      </p:sp>
      <p:sp>
        <p:nvSpPr>
          <p:cNvPr id="11" name="Stat label 5"/>
          <p:cNvSpPr txBox="1"/>
          <p:nvPr/>
        </p:nvSpPr>
        <p:spPr>
          <a:xfrm>
            <a:off x="4800600" y="2103120"/>
            <a:ext cx="1645920" cy="914400"/>
          </a:xfrm>
          <a:prstGeom prst="rect">
            <a:avLst/>
          </a:prstGeom>
          <a:noFill/>
          <a:ln/>
        </p:spPr>
        <p:txBody>
          <a:bodyPr wrap="square" lIns="0" tIns="0" rIns="0" bIns="0" rtlCol="0" anchor="t"/>
          <a:lstStyle/>
          <a:p>
            <a:pPr indent="0" marL="0">
              <a:buNone/>
            </a:pPr>
            <a:r>
              <a:rPr lang="en-US" sz="1400" dirty="0">
                <a:solidFill>
                  <a:schemeClr val="bg1"/>
                </a:solidFill>
              </a:rPr>
              <a:t>markets: UK, Ireland, Netherlands, Germany, Spain</a:t>
            </a:r>
            <a:endParaRPr lang="en-US" sz="1400" dirty="0"/>
          </a:p>
        </p:txBody>
      </p:sp>
      <p:sp>
        <p:nvSpPr>
          <p:cNvPr id="12" name="Stat 1,450+"/>
          <p:cNvSpPr/>
          <p:nvPr/>
        </p:nvSpPr>
        <p:spPr>
          <a:xfrm>
            <a:off x="6766560" y="1188720"/>
            <a:ext cx="1920240" cy="1920240"/>
          </a:xfrm>
          <a:prstGeom prst="roundRect">
            <a:avLst>
              <a:gd name="adj" fmla="val 5714"/>
            </a:avLst>
          </a:prstGeom>
          <a:solidFill>
            <a:schemeClr val="tx2"/>
          </a:solidFill>
          <a:ln/>
        </p:spPr>
      </p:sp>
      <p:sp>
        <p:nvSpPr>
          <p:cNvPr id="13" name="Stat number 1,450+"/>
          <p:cNvSpPr txBox="1"/>
          <p:nvPr/>
        </p:nvSpPr>
        <p:spPr>
          <a:xfrm>
            <a:off x="6903720" y="1325880"/>
            <a:ext cx="1645920" cy="731520"/>
          </a:xfrm>
          <a:prstGeom prst="rect">
            <a:avLst/>
          </a:prstGeom>
          <a:noFill/>
          <a:ln/>
        </p:spPr>
        <p:txBody>
          <a:bodyPr wrap="square" lIns="0" tIns="0" rIns="0" bIns="0" rtlCol="0" anchor="ctr"/>
          <a:lstStyle/>
          <a:p>
            <a:pPr indent="0" marL="0">
              <a:buNone/>
            </a:pPr>
            <a:r>
              <a:rPr lang="en-US" sz="3800" b="1" dirty="0">
                <a:solidFill>
                  <a:schemeClr val="accent2"/>
                </a:solidFill>
              </a:rPr>
              <a:t>1,450+</a:t>
            </a:r>
            <a:endParaRPr lang="en-US" sz="3800" dirty="0"/>
          </a:p>
        </p:txBody>
      </p:sp>
      <p:sp>
        <p:nvSpPr>
          <p:cNvPr id="14" name="Stat label 1,450+"/>
          <p:cNvSpPr txBox="1"/>
          <p:nvPr/>
        </p:nvSpPr>
        <p:spPr>
          <a:xfrm>
            <a:off x="6903720" y="2103120"/>
            <a:ext cx="1645920" cy="914400"/>
          </a:xfrm>
          <a:prstGeom prst="rect">
            <a:avLst/>
          </a:prstGeom>
          <a:noFill/>
          <a:ln/>
        </p:spPr>
        <p:txBody>
          <a:bodyPr wrap="square" lIns="0" tIns="0" rIns="0" bIns="0" rtlCol="0" anchor="t"/>
          <a:lstStyle/>
          <a:p>
            <a:pPr indent="0" marL="0">
              <a:buNone/>
            </a:pPr>
            <a:r>
              <a:rPr lang="en-US" sz="1400" dirty="0">
                <a:solidFill>
                  <a:schemeClr val="bg1"/>
                </a:solidFill>
              </a:rPr>
              <a:t>testing locations (Axo's own claim)</a:t>
            </a:r>
            <a:endParaRPr lang="en-US" sz="1400" dirty="0"/>
          </a:p>
        </p:txBody>
      </p:sp>
      <p:sp>
        <p:nvSpPr>
          <p:cNvPr id="15" name="Bridge line"/>
          <p:cNvSpPr txBox="1"/>
          <p:nvPr/>
        </p:nvSpPr>
        <p:spPr>
          <a:xfrm>
            <a:off x="457200" y="3429000"/>
            <a:ext cx="8229600" cy="640080"/>
          </a:xfrm>
          <a:prstGeom prst="rect">
            <a:avLst/>
          </a:prstGeom>
          <a:noFill/>
          <a:ln/>
        </p:spPr>
        <p:txBody>
          <a:bodyPr wrap="square" lIns="0" tIns="0" rIns="0" bIns="0" rtlCol="0" anchor="t"/>
          <a:lstStyle/>
          <a:p>
            <a:pPr indent="0" marL="0">
              <a:buNone/>
            </a:pPr>
            <a:r>
              <a:rPr lang="en-US" sz="1600" dirty="0">
                <a:solidFill>
                  <a:schemeClr val="tx1"/>
                </a:solidFill>
              </a:rPr>
              <a:t>Axo sells to individuals, to businesses, and through partners. The next slide shows what that means for finding clients.</a:t>
            </a:r>
            <a:endParaRPr lang="en-US" sz="1600" dirty="0"/>
          </a:p>
        </p:txBody>
      </p:sp>
      <p:sp>
        <p:nvSpPr>
          <p:cNvPr id="16" name="Source note"/>
          <p:cNvSpPr txBox="1"/>
          <p:nvPr/>
        </p:nvSpPr>
        <p:spPr>
          <a:xfrm>
            <a:off x="457200" y="4434840"/>
            <a:ext cx="8229600" cy="228600"/>
          </a:xfrm>
          <a:prstGeom prst="rect">
            <a:avLst/>
          </a:prstGeom>
          <a:noFill/>
          <a:ln/>
        </p:spPr>
        <p:txBody>
          <a:bodyPr wrap="square" lIns="0" tIns="0" rIns="0" bIns="0" rtlCol="0" anchor="ctr"/>
          <a:lstStyle/>
          <a:p>
            <a:pPr indent="0" marL="0">
              <a:buNone/>
            </a:pPr>
            <a:r>
              <a:rPr lang="en-US" sz="1000" dirty="0">
                <a:solidFill>
                  <a:schemeClr val="tx2"/>
                </a:solidFill>
              </a:rPr>
              <a:t>Source: axolongevity.com, opened 28 Oct 2026.</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Three routes to clients, one pipeline</a:t>
            </a:r>
            <a:endParaRPr lang="en-US" sz="3000" dirty="0"/>
          </a:p>
        </p:txBody>
      </p:sp>
      <p:sp>
        <p:nvSpPr>
          <p:cNvPr id="3" name="Route B2C"/>
          <p:cNvSpPr/>
          <p:nvPr/>
        </p:nvSpPr>
        <p:spPr>
          <a:xfrm>
            <a:off x="457200" y="1143000"/>
            <a:ext cx="2651760" cy="3429000"/>
          </a:xfrm>
          <a:prstGeom prst="roundRect">
            <a:avLst>
              <a:gd name="adj" fmla="val 4138"/>
            </a:avLst>
          </a:prstGeom>
          <a:solidFill>
            <a:schemeClr val="bg2"/>
          </a:solidFill>
          <a:ln/>
        </p:spPr>
      </p:sp>
      <p:sp>
        <p:nvSpPr>
          <p:cNvPr id="4" name="Icon B2C"/>
          <p:cNvSpPr/>
          <p:nvPr/>
        </p:nvSpPr>
        <p:spPr>
          <a:xfrm>
            <a:off x="640080" y="1280160"/>
            <a:ext cx="502920" cy="502920"/>
          </a:xfrm>
          <a:prstGeom prst="ellipse">
            <a:avLst/>
          </a:prstGeom>
          <a:solidFill>
            <a:schemeClr val="accent1"/>
          </a:solidFill>
          <a:ln/>
        </p:spPr>
      </p:sp>
      <p:pic>
        <p:nvPicPr>
          <p:cNvPr id="5" name="Image 0" descr="icon">    </p:cNvPr>
          <p:cNvPicPr>
            <a:picLocks noChangeAspect="1"/>
          </p:cNvPicPr>
          <p:nvPr/>
        </p:nvPicPr>
        <p:blipFill>
          <a:blip r:embed="rId1"/>
          <a:stretch>
            <a:fillRect/>
          </a:stretch>
        </p:blipFill>
        <p:spPr>
          <a:xfrm>
            <a:off x="780898" y="1420978"/>
            <a:ext cx="221285" cy="221285"/>
          </a:xfrm>
          <a:prstGeom prst="rect">
            <a:avLst/>
          </a:prstGeom>
        </p:spPr>
      </p:pic>
      <p:sp>
        <p:nvSpPr>
          <p:cNvPr id="6" name="Tag B2C"/>
          <p:cNvSpPr txBox="1"/>
          <p:nvPr/>
        </p:nvSpPr>
        <p:spPr>
          <a:xfrm>
            <a:off x="1280160" y="1280160"/>
            <a:ext cx="1737360" cy="502920"/>
          </a:xfrm>
          <a:prstGeom prst="rect">
            <a:avLst/>
          </a:prstGeom>
          <a:noFill/>
          <a:ln/>
        </p:spPr>
        <p:txBody>
          <a:bodyPr wrap="square" lIns="0" tIns="0" rIns="0" bIns="0" rtlCol="0" anchor="ctr"/>
          <a:lstStyle/>
          <a:p>
            <a:pPr indent="0" marL="0">
              <a:buNone/>
            </a:pPr>
            <a:r>
              <a:rPr lang="en-US" sz="2200" b="1" dirty="0">
                <a:solidFill>
                  <a:schemeClr val="accent1"/>
                </a:solidFill>
              </a:rPr>
              <a:t>B2C</a:t>
            </a:r>
            <a:endParaRPr lang="en-US" sz="2200" dirty="0"/>
          </a:p>
        </p:txBody>
      </p:sp>
      <p:sp>
        <p:nvSpPr>
          <p:cNvPr id="7" name="Heading B2C"/>
          <p:cNvSpPr txBox="1"/>
          <p:nvPr/>
        </p:nvSpPr>
        <p:spPr>
          <a:xfrm>
            <a:off x="640080" y="1920240"/>
            <a:ext cx="2286000" cy="320040"/>
          </a:xfrm>
          <a:prstGeom prst="rect">
            <a:avLst/>
          </a:prstGeom>
          <a:noFill/>
          <a:ln/>
        </p:spPr>
        <p:txBody>
          <a:bodyPr wrap="square" lIns="0" tIns="0" rIns="0" bIns="0" rtlCol="0" anchor="ctr"/>
          <a:lstStyle/>
          <a:p>
            <a:pPr indent="0" marL="0">
              <a:buNone/>
            </a:pPr>
            <a:r>
              <a:rPr lang="en-US" sz="1600" b="1" dirty="0">
                <a:solidFill>
                  <a:schemeClr val="tx2"/>
                </a:solidFill>
              </a:rPr>
              <a:t>Individuals</a:t>
            </a:r>
            <a:endParaRPr lang="en-US" sz="1600" dirty="0"/>
          </a:p>
        </p:txBody>
      </p:sp>
      <p:sp>
        <p:nvSpPr>
          <p:cNvPr id="8" name="Examples B2C"/>
          <p:cNvSpPr txBox="1"/>
          <p:nvPr/>
        </p:nvSpPr>
        <p:spPr>
          <a:xfrm>
            <a:off x="640080" y="2286000"/>
            <a:ext cx="2286000" cy="1005840"/>
          </a:xfrm>
          <a:prstGeom prst="rect">
            <a:avLst/>
          </a:prstGeom>
          <a:noFill/>
          <a:ln/>
        </p:spPr>
        <p:txBody>
          <a:bodyPr wrap="square" lIns="0" tIns="0" rIns="0" bIns="0" rtlCol="0" anchor="t"/>
          <a:lstStyle/>
          <a:p>
            <a:pPr indent="0" marL="0">
              <a:buNone/>
            </a:pPr>
            <a:r>
              <a:rPr lang="en-US" sz="1400" dirty="0">
                <a:solidFill>
                  <a:schemeClr val="tx1"/>
                </a:solidFill>
              </a:rPr>
              <a:t>Members who buy for themselves, or gift a membership</a:t>
            </a:r>
            <a:endParaRPr lang="en-US" sz="1400" dirty="0"/>
          </a:p>
        </p:txBody>
      </p:sp>
      <p:sp>
        <p:nvSpPr>
          <p:cNvPr id="9" name="Job label B2C"/>
          <p:cNvSpPr txBox="1"/>
          <p:nvPr/>
        </p:nvSpPr>
        <p:spPr>
          <a:xfrm>
            <a:off x="640080" y="3337560"/>
            <a:ext cx="2286000" cy="201168"/>
          </a:xfrm>
          <a:prstGeom prst="rect">
            <a:avLst/>
          </a:prstGeom>
          <a:noFill/>
          <a:ln/>
        </p:spPr>
        <p:txBody>
          <a:bodyPr wrap="square" lIns="0" tIns="0" rIns="0" bIns="0" rtlCol="0" anchor="ctr"/>
          <a:lstStyle/>
          <a:p>
            <a:pPr indent="0" marL="0">
              <a:buNone/>
            </a:pPr>
            <a:r>
              <a:rPr lang="en-US" sz="1000" b="1" dirty="0">
                <a:solidFill>
                  <a:schemeClr val="accent1"/>
                </a:solidFill>
              </a:rPr>
              <a:t>WHAT THE PIPELINE DOES</a:t>
            </a:r>
            <a:endParaRPr lang="en-US" sz="1000" dirty="0"/>
          </a:p>
        </p:txBody>
      </p:sp>
      <p:sp>
        <p:nvSpPr>
          <p:cNvPr id="10" name="Job B2C"/>
          <p:cNvSpPr txBox="1"/>
          <p:nvPr/>
        </p:nvSpPr>
        <p:spPr>
          <a:xfrm>
            <a:off x="640080" y="3566160"/>
            <a:ext cx="2286000" cy="914400"/>
          </a:xfrm>
          <a:prstGeom prst="rect">
            <a:avLst/>
          </a:prstGeom>
          <a:noFill/>
          <a:ln/>
        </p:spPr>
        <p:txBody>
          <a:bodyPr wrap="square" lIns="0" tIns="0" rIns="0" bIns="0" rtlCol="0" anchor="t"/>
          <a:lstStyle/>
          <a:p>
            <a:pPr indent="0" marL="0">
              <a:buNone/>
            </a:pPr>
            <a:r>
              <a:rPr lang="en-US" sz="1400" dirty="0">
                <a:solidFill>
                  <a:schemeClr val="tx1"/>
                </a:solidFill>
              </a:rPr>
              <a:t>Finds the creators, podcasts and communities that reach them</a:t>
            </a:r>
            <a:endParaRPr lang="en-US" sz="1400" dirty="0"/>
          </a:p>
        </p:txBody>
      </p:sp>
      <p:sp>
        <p:nvSpPr>
          <p:cNvPr id="11" name="Route B2B"/>
          <p:cNvSpPr/>
          <p:nvPr/>
        </p:nvSpPr>
        <p:spPr>
          <a:xfrm>
            <a:off x="3246120" y="1143000"/>
            <a:ext cx="2651760" cy="3429000"/>
          </a:xfrm>
          <a:prstGeom prst="roundRect">
            <a:avLst>
              <a:gd name="adj" fmla="val 4138"/>
            </a:avLst>
          </a:prstGeom>
          <a:solidFill>
            <a:schemeClr val="bg2"/>
          </a:solidFill>
          <a:ln/>
        </p:spPr>
      </p:sp>
      <p:sp>
        <p:nvSpPr>
          <p:cNvPr id="12" name="Icon B2B"/>
          <p:cNvSpPr/>
          <p:nvPr/>
        </p:nvSpPr>
        <p:spPr>
          <a:xfrm>
            <a:off x="3429000" y="1280160"/>
            <a:ext cx="502920" cy="502920"/>
          </a:xfrm>
          <a:prstGeom prst="ellipse">
            <a:avLst/>
          </a:prstGeom>
          <a:solidFill>
            <a:schemeClr val="accent1"/>
          </a:solidFill>
          <a:ln/>
        </p:spPr>
      </p:sp>
      <p:pic>
        <p:nvPicPr>
          <p:cNvPr id="13" name="Image 1" descr="icon">    </p:cNvPr>
          <p:cNvPicPr>
            <a:picLocks noChangeAspect="1"/>
          </p:cNvPicPr>
          <p:nvPr/>
        </p:nvPicPr>
        <p:blipFill>
          <a:blip r:embed="rId2"/>
          <a:stretch>
            <a:fillRect/>
          </a:stretch>
        </p:blipFill>
        <p:spPr>
          <a:xfrm>
            <a:off x="3569818" y="1420978"/>
            <a:ext cx="221285" cy="221285"/>
          </a:xfrm>
          <a:prstGeom prst="rect">
            <a:avLst/>
          </a:prstGeom>
        </p:spPr>
      </p:pic>
      <p:sp>
        <p:nvSpPr>
          <p:cNvPr id="14" name="Tag B2B"/>
          <p:cNvSpPr txBox="1"/>
          <p:nvPr/>
        </p:nvSpPr>
        <p:spPr>
          <a:xfrm>
            <a:off x="4069080" y="1280160"/>
            <a:ext cx="1737360" cy="502920"/>
          </a:xfrm>
          <a:prstGeom prst="rect">
            <a:avLst/>
          </a:prstGeom>
          <a:noFill/>
          <a:ln/>
        </p:spPr>
        <p:txBody>
          <a:bodyPr wrap="square" lIns="0" tIns="0" rIns="0" bIns="0" rtlCol="0" anchor="ctr"/>
          <a:lstStyle/>
          <a:p>
            <a:pPr indent="0" marL="0">
              <a:buNone/>
            </a:pPr>
            <a:r>
              <a:rPr lang="en-US" sz="2200" b="1" dirty="0">
                <a:solidFill>
                  <a:schemeClr val="accent1"/>
                </a:solidFill>
              </a:rPr>
              <a:t>B2B</a:t>
            </a:r>
            <a:endParaRPr lang="en-US" sz="2200" dirty="0"/>
          </a:p>
        </p:txBody>
      </p:sp>
      <p:sp>
        <p:nvSpPr>
          <p:cNvPr id="15" name="Heading B2B"/>
          <p:cNvSpPr txBox="1"/>
          <p:nvPr/>
        </p:nvSpPr>
        <p:spPr>
          <a:xfrm>
            <a:off x="3429000" y="1920240"/>
            <a:ext cx="2286000" cy="320040"/>
          </a:xfrm>
          <a:prstGeom prst="rect">
            <a:avLst/>
          </a:prstGeom>
          <a:noFill/>
          <a:ln/>
        </p:spPr>
        <p:txBody>
          <a:bodyPr wrap="square" lIns="0" tIns="0" rIns="0" bIns="0" rtlCol="0" anchor="ctr"/>
          <a:lstStyle/>
          <a:p>
            <a:pPr indent="0" marL="0">
              <a:buNone/>
            </a:pPr>
            <a:r>
              <a:rPr lang="en-US" sz="1600" b="1" dirty="0">
                <a:solidFill>
                  <a:schemeClr val="tx2"/>
                </a:solidFill>
              </a:rPr>
              <a:t>Businesses</a:t>
            </a:r>
            <a:endParaRPr lang="en-US" sz="1600" dirty="0"/>
          </a:p>
        </p:txBody>
      </p:sp>
      <p:sp>
        <p:nvSpPr>
          <p:cNvPr id="16" name="Examples B2B"/>
          <p:cNvSpPr txBox="1"/>
          <p:nvPr/>
        </p:nvSpPr>
        <p:spPr>
          <a:xfrm>
            <a:off x="3429000" y="2286000"/>
            <a:ext cx="2286000" cy="1005840"/>
          </a:xfrm>
          <a:prstGeom prst="rect">
            <a:avLst/>
          </a:prstGeom>
          <a:noFill/>
          <a:ln/>
        </p:spPr>
        <p:txBody>
          <a:bodyPr wrap="square" lIns="0" tIns="0" rIns="0" bIns="0" rtlCol="0" anchor="t"/>
          <a:lstStyle/>
          <a:p>
            <a:pPr indent="0" marL="0">
              <a:buNone/>
            </a:pPr>
            <a:r>
              <a:rPr lang="en-US" sz="1400" dirty="0">
                <a:solidFill>
                  <a:schemeClr val="tx1"/>
                </a:solidFill>
              </a:rPr>
              <a:t>Employers, corporate wellness firms, sports and performance organisations</a:t>
            </a:r>
            <a:endParaRPr lang="en-US" sz="1400" dirty="0"/>
          </a:p>
        </p:txBody>
      </p:sp>
      <p:sp>
        <p:nvSpPr>
          <p:cNvPr id="17" name="Job label B2B"/>
          <p:cNvSpPr txBox="1"/>
          <p:nvPr/>
        </p:nvSpPr>
        <p:spPr>
          <a:xfrm>
            <a:off x="3429000" y="3337560"/>
            <a:ext cx="2286000" cy="201168"/>
          </a:xfrm>
          <a:prstGeom prst="rect">
            <a:avLst/>
          </a:prstGeom>
          <a:noFill/>
          <a:ln/>
        </p:spPr>
        <p:txBody>
          <a:bodyPr wrap="square" lIns="0" tIns="0" rIns="0" bIns="0" rtlCol="0" anchor="ctr"/>
          <a:lstStyle/>
          <a:p>
            <a:pPr indent="0" marL="0">
              <a:buNone/>
            </a:pPr>
            <a:r>
              <a:rPr lang="en-US" sz="1000" b="1" dirty="0">
                <a:solidFill>
                  <a:schemeClr val="accent1"/>
                </a:solidFill>
              </a:rPr>
              <a:t>WHAT THE PIPELINE DOES</a:t>
            </a:r>
            <a:endParaRPr lang="en-US" sz="1000" dirty="0"/>
          </a:p>
        </p:txBody>
      </p:sp>
      <p:sp>
        <p:nvSpPr>
          <p:cNvPr id="18" name="Job B2B"/>
          <p:cNvSpPr txBox="1"/>
          <p:nvPr/>
        </p:nvSpPr>
        <p:spPr>
          <a:xfrm>
            <a:off x="3429000" y="3566160"/>
            <a:ext cx="2286000" cy="914400"/>
          </a:xfrm>
          <a:prstGeom prst="rect">
            <a:avLst/>
          </a:prstGeom>
          <a:noFill/>
          <a:ln/>
        </p:spPr>
        <p:txBody>
          <a:bodyPr wrap="square" lIns="0" tIns="0" rIns="0" bIns="0" rtlCol="0" anchor="t"/>
          <a:lstStyle/>
          <a:p>
            <a:pPr indent="0" marL="0">
              <a:buNone/>
            </a:pPr>
            <a:r>
              <a:rPr lang="en-US" sz="1400" dirty="0">
                <a:solidFill>
                  <a:schemeClr val="tx1"/>
                </a:solidFill>
              </a:rPr>
              <a:t>Finds companies with a wellbeing focus, and the right person to contact</a:t>
            </a:r>
            <a:endParaRPr lang="en-US" sz="1400" dirty="0"/>
          </a:p>
        </p:txBody>
      </p:sp>
      <p:sp>
        <p:nvSpPr>
          <p:cNvPr id="19" name="Route B2B2C"/>
          <p:cNvSpPr/>
          <p:nvPr/>
        </p:nvSpPr>
        <p:spPr>
          <a:xfrm>
            <a:off x="6035040" y="1143000"/>
            <a:ext cx="2651760" cy="3429000"/>
          </a:xfrm>
          <a:prstGeom prst="roundRect">
            <a:avLst>
              <a:gd name="adj" fmla="val 4138"/>
            </a:avLst>
          </a:prstGeom>
          <a:solidFill>
            <a:schemeClr val="bg2"/>
          </a:solidFill>
          <a:ln/>
        </p:spPr>
      </p:sp>
      <p:sp>
        <p:nvSpPr>
          <p:cNvPr id="20" name="Icon B2B2C"/>
          <p:cNvSpPr/>
          <p:nvPr/>
        </p:nvSpPr>
        <p:spPr>
          <a:xfrm>
            <a:off x="6217920" y="1280160"/>
            <a:ext cx="502920" cy="502920"/>
          </a:xfrm>
          <a:prstGeom prst="ellipse">
            <a:avLst/>
          </a:prstGeom>
          <a:solidFill>
            <a:schemeClr val="accent1"/>
          </a:solidFill>
          <a:ln/>
        </p:spPr>
      </p:sp>
      <p:pic>
        <p:nvPicPr>
          <p:cNvPr id="21" name="Image 2" descr="icon">    </p:cNvPr>
          <p:cNvPicPr>
            <a:picLocks noChangeAspect="1"/>
          </p:cNvPicPr>
          <p:nvPr/>
        </p:nvPicPr>
        <p:blipFill>
          <a:blip r:embed="rId3"/>
          <a:stretch>
            <a:fillRect/>
          </a:stretch>
        </p:blipFill>
        <p:spPr>
          <a:xfrm>
            <a:off x="6358738" y="1420978"/>
            <a:ext cx="221285" cy="221285"/>
          </a:xfrm>
          <a:prstGeom prst="rect">
            <a:avLst/>
          </a:prstGeom>
        </p:spPr>
      </p:pic>
      <p:sp>
        <p:nvSpPr>
          <p:cNvPr id="22" name="Tag B2B2C"/>
          <p:cNvSpPr txBox="1"/>
          <p:nvPr/>
        </p:nvSpPr>
        <p:spPr>
          <a:xfrm>
            <a:off x="6858000" y="1280160"/>
            <a:ext cx="1737360" cy="502920"/>
          </a:xfrm>
          <a:prstGeom prst="rect">
            <a:avLst/>
          </a:prstGeom>
          <a:noFill/>
          <a:ln/>
        </p:spPr>
        <p:txBody>
          <a:bodyPr wrap="square" lIns="0" tIns="0" rIns="0" bIns="0" rtlCol="0" anchor="ctr"/>
          <a:lstStyle/>
          <a:p>
            <a:pPr indent="0" marL="0">
              <a:buNone/>
            </a:pPr>
            <a:r>
              <a:rPr lang="en-US" sz="2200" b="1" dirty="0">
                <a:solidFill>
                  <a:schemeClr val="accent1"/>
                </a:solidFill>
              </a:rPr>
              <a:t>B2B2C</a:t>
            </a:r>
            <a:endParaRPr lang="en-US" sz="2200" dirty="0"/>
          </a:p>
        </p:txBody>
      </p:sp>
      <p:sp>
        <p:nvSpPr>
          <p:cNvPr id="23" name="Heading B2B2C"/>
          <p:cNvSpPr txBox="1"/>
          <p:nvPr/>
        </p:nvSpPr>
        <p:spPr>
          <a:xfrm>
            <a:off x="6217920" y="1920240"/>
            <a:ext cx="2286000" cy="320040"/>
          </a:xfrm>
          <a:prstGeom prst="rect">
            <a:avLst/>
          </a:prstGeom>
          <a:noFill/>
          <a:ln/>
        </p:spPr>
        <p:txBody>
          <a:bodyPr wrap="square" lIns="0" tIns="0" rIns="0" bIns="0" rtlCol="0" anchor="ctr"/>
          <a:lstStyle/>
          <a:p>
            <a:pPr indent="0" marL="0">
              <a:buNone/>
            </a:pPr>
            <a:r>
              <a:rPr lang="en-US" sz="1600" b="1" dirty="0">
                <a:solidFill>
                  <a:schemeClr val="tx2"/>
                </a:solidFill>
              </a:rPr>
              <a:t>Partners</a:t>
            </a:r>
            <a:endParaRPr lang="en-US" sz="1600" dirty="0"/>
          </a:p>
        </p:txBody>
      </p:sp>
      <p:sp>
        <p:nvSpPr>
          <p:cNvPr id="24" name="Examples B2B2C"/>
          <p:cNvSpPr txBox="1"/>
          <p:nvPr/>
        </p:nvSpPr>
        <p:spPr>
          <a:xfrm>
            <a:off x="6217920" y="2286000"/>
            <a:ext cx="2286000" cy="1005840"/>
          </a:xfrm>
          <a:prstGeom prst="rect">
            <a:avLst/>
          </a:prstGeom>
          <a:noFill/>
          <a:ln/>
        </p:spPr>
        <p:txBody>
          <a:bodyPr wrap="square" lIns="0" tIns="0" rIns="0" bIns="0" rtlCol="0" anchor="t"/>
          <a:lstStyle/>
          <a:p>
            <a:pPr indent="0" marL="0">
              <a:buNone/>
            </a:pPr>
            <a:r>
              <a:rPr lang="en-US" sz="1400" dirty="0">
                <a:solidFill>
                  <a:schemeClr val="tx1"/>
                </a:solidFill>
              </a:rPr>
              <a:t>Wellness centres, clinics, practitioners, gyms and spas</a:t>
            </a:r>
            <a:endParaRPr lang="en-US" sz="1400" dirty="0"/>
          </a:p>
        </p:txBody>
      </p:sp>
      <p:sp>
        <p:nvSpPr>
          <p:cNvPr id="25" name="Job label B2B2C"/>
          <p:cNvSpPr txBox="1"/>
          <p:nvPr/>
        </p:nvSpPr>
        <p:spPr>
          <a:xfrm>
            <a:off x="6217920" y="3337560"/>
            <a:ext cx="2286000" cy="201168"/>
          </a:xfrm>
          <a:prstGeom prst="rect">
            <a:avLst/>
          </a:prstGeom>
          <a:noFill/>
          <a:ln/>
        </p:spPr>
        <p:txBody>
          <a:bodyPr wrap="square" lIns="0" tIns="0" rIns="0" bIns="0" rtlCol="0" anchor="ctr"/>
          <a:lstStyle/>
          <a:p>
            <a:pPr indent="0" marL="0">
              <a:buNone/>
            </a:pPr>
            <a:r>
              <a:rPr lang="en-US" sz="1000" b="1" dirty="0">
                <a:solidFill>
                  <a:schemeClr val="accent1"/>
                </a:solidFill>
              </a:rPr>
              <a:t>WHAT THE PIPELINE DOES</a:t>
            </a:r>
            <a:endParaRPr lang="en-US" sz="1000" dirty="0"/>
          </a:p>
        </p:txBody>
      </p:sp>
      <p:sp>
        <p:nvSpPr>
          <p:cNvPr id="26" name="Job B2B2C"/>
          <p:cNvSpPr txBox="1"/>
          <p:nvPr/>
        </p:nvSpPr>
        <p:spPr>
          <a:xfrm>
            <a:off x="6217920" y="3566160"/>
            <a:ext cx="2286000" cy="914400"/>
          </a:xfrm>
          <a:prstGeom prst="rect">
            <a:avLst/>
          </a:prstGeom>
          <a:noFill/>
          <a:ln/>
        </p:spPr>
        <p:txBody>
          <a:bodyPr wrap="square" lIns="0" tIns="0" rIns="0" bIns="0" rtlCol="0" anchor="t"/>
          <a:lstStyle/>
          <a:p>
            <a:pPr indent="0" marL="0">
              <a:buNone/>
            </a:pPr>
            <a:r>
              <a:rPr lang="en-US" sz="1400" dirty="0">
                <a:solidFill>
                  <a:schemeClr val="tx1"/>
                </a:solidFill>
              </a:rPr>
              <a:t>Finds premium venues whose members fit Axo</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The engine: what Clay does</a:t>
            </a:r>
            <a:endParaRPr lang="en-US" sz="3000" dirty="0"/>
          </a:p>
        </p:txBody>
      </p:sp>
      <p:sp>
        <p:nvSpPr>
          <p:cNvPr id="3" name="Icon Finds and fills in details"/>
          <p:cNvSpPr/>
          <p:nvPr/>
        </p:nvSpPr>
        <p:spPr>
          <a:xfrm>
            <a:off x="457200" y="1234440"/>
            <a:ext cx="548640" cy="548640"/>
          </a:xfrm>
          <a:prstGeom prst="ellipse">
            <a:avLst/>
          </a:prstGeom>
          <a:solidFill>
            <a:schemeClr val="accent1"/>
          </a:solidFill>
          <a:ln/>
        </p:spPr>
      </p:sp>
      <p:pic>
        <p:nvPicPr>
          <p:cNvPr id="4" name="Image 0" descr="icon">    </p:cNvPr>
          <p:cNvPicPr>
            <a:picLocks noChangeAspect="1"/>
          </p:cNvPicPr>
          <p:nvPr/>
        </p:nvPicPr>
        <p:blipFill>
          <a:blip r:embed="rId1"/>
          <a:stretch>
            <a:fillRect/>
          </a:stretch>
        </p:blipFill>
        <p:spPr>
          <a:xfrm>
            <a:off x="610819" y="1388059"/>
            <a:ext cx="241402" cy="241402"/>
          </a:xfrm>
          <a:prstGeom prst="rect">
            <a:avLst/>
          </a:prstGeom>
        </p:spPr>
      </p:pic>
      <p:sp>
        <p:nvSpPr>
          <p:cNvPr id="5" name="Clay Finds and fills in details"/>
          <p:cNvSpPr txBox="1"/>
          <p:nvPr/>
        </p:nvSpPr>
        <p:spPr>
          <a:xfrm>
            <a:off x="1188720" y="1143000"/>
            <a:ext cx="3657600" cy="777240"/>
          </a:xfrm>
          <a:prstGeom prst="rect">
            <a:avLst/>
          </a:prstGeom>
          <a:noFill/>
          <a:ln/>
        </p:spPr>
        <p:txBody>
          <a:bodyPr wrap="square" lIns="0" tIns="0" rIns="0" bIns="0" rtlCol="0" anchor="ctr"/>
          <a:lstStyle/>
          <a:p>
            <a:pPr indent="0" marL="0">
              <a:buNone/>
            </a:pPr>
            <a:r>
              <a:rPr lang="en-US" sz="1600" b="1" dirty="0">
                <a:solidFill>
                  <a:schemeClr val="tx2"/>
                </a:solidFill>
              </a:rPr>
              <a:t>Finds and fills in details</a:t>
            </a:r>
            <a:endParaRPr lang="en-US" sz="1600" dirty="0"/>
          </a:p>
          <a:p>
            <a:pPr indent="0" marL="0">
              <a:buNone/>
            </a:pPr>
            <a:r>
              <a:rPr lang="en-US" sz="1400" dirty="0">
                <a:solidFill>
                  <a:schemeClr val="tx1"/>
                </a:solidFill>
              </a:rPr>
              <a:t>Company and contact data from 200+ providers, tried in turn.</a:t>
            </a:r>
            <a:endParaRPr lang="en-US" sz="1600" dirty="0"/>
          </a:p>
        </p:txBody>
      </p:sp>
      <p:sp>
        <p:nvSpPr>
          <p:cNvPr id="6" name="Icon Researches with AI"/>
          <p:cNvSpPr/>
          <p:nvPr/>
        </p:nvSpPr>
        <p:spPr>
          <a:xfrm>
            <a:off x="457200" y="2103120"/>
            <a:ext cx="548640" cy="548640"/>
          </a:xfrm>
          <a:prstGeom prst="ellipse">
            <a:avLst/>
          </a:prstGeom>
          <a:solidFill>
            <a:schemeClr val="accent1"/>
          </a:solidFill>
          <a:ln/>
        </p:spPr>
      </p:sp>
      <p:pic>
        <p:nvPicPr>
          <p:cNvPr id="7" name="Image 1" descr="icon">    </p:cNvPr>
          <p:cNvPicPr>
            <a:picLocks noChangeAspect="1"/>
          </p:cNvPicPr>
          <p:nvPr/>
        </p:nvPicPr>
        <p:blipFill>
          <a:blip r:embed="rId2"/>
          <a:stretch>
            <a:fillRect/>
          </a:stretch>
        </p:blipFill>
        <p:spPr>
          <a:xfrm>
            <a:off x="610819" y="2256739"/>
            <a:ext cx="241402" cy="241402"/>
          </a:xfrm>
          <a:prstGeom prst="rect">
            <a:avLst/>
          </a:prstGeom>
        </p:spPr>
      </p:pic>
      <p:sp>
        <p:nvSpPr>
          <p:cNvPr id="8" name="Clay Researches with AI"/>
          <p:cNvSpPr txBox="1"/>
          <p:nvPr/>
        </p:nvSpPr>
        <p:spPr>
          <a:xfrm>
            <a:off x="1188720" y="2011680"/>
            <a:ext cx="3657600" cy="777240"/>
          </a:xfrm>
          <a:prstGeom prst="rect">
            <a:avLst/>
          </a:prstGeom>
          <a:noFill/>
          <a:ln/>
        </p:spPr>
        <p:txBody>
          <a:bodyPr wrap="square" lIns="0" tIns="0" rIns="0" bIns="0" rtlCol="0" anchor="ctr"/>
          <a:lstStyle/>
          <a:p>
            <a:pPr indent="0" marL="0">
              <a:buNone/>
            </a:pPr>
            <a:r>
              <a:rPr lang="en-US" sz="1600" b="1" dirty="0">
                <a:solidFill>
                  <a:schemeClr val="tx2"/>
                </a:solidFill>
              </a:rPr>
              <a:t>Researches with AI</a:t>
            </a:r>
            <a:endParaRPr lang="en-US" sz="1600" dirty="0"/>
          </a:p>
          <a:p>
            <a:pPr indent="0" marL="0">
              <a:buNone/>
            </a:pPr>
            <a:r>
              <a:rPr lang="en-US" sz="1400" dirty="0">
                <a:solidFill>
                  <a:schemeClr val="tx1"/>
                </a:solidFill>
              </a:rPr>
              <a:t>Claygent reads a company's website and answers your question.</a:t>
            </a:r>
            <a:endParaRPr lang="en-US" sz="1600" dirty="0"/>
          </a:p>
        </p:txBody>
      </p:sp>
      <p:sp>
        <p:nvSpPr>
          <p:cNvPr id="9" name="Icon Helps with outreach"/>
          <p:cNvSpPr/>
          <p:nvPr/>
        </p:nvSpPr>
        <p:spPr>
          <a:xfrm>
            <a:off x="457200" y="2971800"/>
            <a:ext cx="548640" cy="548640"/>
          </a:xfrm>
          <a:prstGeom prst="ellipse">
            <a:avLst/>
          </a:prstGeom>
          <a:solidFill>
            <a:schemeClr val="accent1"/>
          </a:solidFill>
          <a:ln/>
        </p:spPr>
      </p:sp>
      <p:pic>
        <p:nvPicPr>
          <p:cNvPr id="10" name="Image 2" descr="icon">    </p:cNvPr>
          <p:cNvPicPr>
            <a:picLocks noChangeAspect="1"/>
          </p:cNvPicPr>
          <p:nvPr/>
        </p:nvPicPr>
        <p:blipFill>
          <a:blip r:embed="rId3"/>
          <a:stretch>
            <a:fillRect/>
          </a:stretch>
        </p:blipFill>
        <p:spPr>
          <a:xfrm>
            <a:off x="610819" y="3125419"/>
            <a:ext cx="241402" cy="241402"/>
          </a:xfrm>
          <a:prstGeom prst="rect">
            <a:avLst/>
          </a:prstGeom>
        </p:spPr>
      </p:pic>
      <p:sp>
        <p:nvSpPr>
          <p:cNvPr id="11" name="Clay Helps with outreach"/>
          <p:cNvSpPr txBox="1"/>
          <p:nvPr/>
        </p:nvSpPr>
        <p:spPr>
          <a:xfrm>
            <a:off x="1188720" y="2880360"/>
            <a:ext cx="3657600" cy="777240"/>
          </a:xfrm>
          <a:prstGeom prst="rect">
            <a:avLst/>
          </a:prstGeom>
          <a:noFill/>
          <a:ln/>
        </p:spPr>
        <p:txBody>
          <a:bodyPr wrap="square" lIns="0" tIns="0" rIns="0" bIns="0" rtlCol="0" anchor="ctr"/>
          <a:lstStyle/>
          <a:p>
            <a:pPr indent="0" marL="0">
              <a:buNone/>
            </a:pPr>
            <a:r>
              <a:rPr lang="en-US" sz="1600" b="1" dirty="0">
                <a:solidFill>
                  <a:schemeClr val="tx2"/>
                </a:solidFill>
              </a:rPr>
              <a:t>Helps with outreach</a:t>
            </a:r>
            <a:endParaRPr lang="en-US" sz="1600" dirty="0"/>
          </a:p>
          <a:p>
            <a:pPr indent="0" marL="0">
              <a:buNone/>
            </a:pPr>
            <a:r>
              <a:rPr lang="en-US" sz="1400" dirty="0">
                <a:solidFill>
                  <a:schemeClr val="tx1"/>
                </a:solidFill>
              </a:rPr>
              <a:t>Targets companies and can sequence messages.</a:t>
            </a:r>
            <a:endParaRPr lang="en-US" sz="1600" dirty="0"/>
          </a:p>
        </p:txBody>
      </p:sp>
      <p:sp>
        <p:nvSpPr>
          <p:cNvPr id="12" name="Icon Runs as a workflow"/>
          <p:cNvSpPr/>
          <p:nvPr/>
        </p:nvSpPr>
        <p:spPr>
          <a:xfrm>
            <a:off x="457200" y="3840480"/>
            <a:ext cx="548640" cy="548640"/>
          </a:xfrm>
          <a:prstGeom prst="ellipse">
            <a:avLst/>
          </a:prstGeom>
          <a:solidFill>
            <a:schemeClr val="accent1"/>
          </a:solidFill>
          <a:ln/>
        </p:spPr>
      </p:sp>
      <p:pic>
        <p:nvPicPr>
          <p:cNvPr id="13" name="Image 3" descr="icon">    </p:cNvPr>
          <p:cNvPicPr>
            <a:picLocks noChangeAspect="1"/>
          </p:cNvPicPr>
          <p:nvPr/>
        </p:nvPicPr>
        <p:blipFill>
          <a:blip r:embed="rId4"/>
          <a:stretch>
            <a:fillRect/>
          </a:stretch>
        </p:blipFill>
        <p:spPr>
          <a:xfrm>
            <a:off x="610819" y="3994099"/>
            <a:ext cx="241402" cy="241402"/>
          </a:xfrm>
          <a:prstGeom prst="rect">
            <a:avLst/>
          </a:prstGeom>
        </p:spPr>
      </p:pic>
      <p:sp>
        <p:nvSpPr>
          <p:cNvPr id="14" name="Clay Runs as a workflow"/>
          <p:cNvSpPr txBox="1"/>
          <p:nvPr/>
        </p:nvSpPr>
        <p:spPr>
          <a:xfrm>
            <a:off x="1188720" y="3749040"/>
            <a:ext cx="3657600" cy="777240"/>
          </a:xfrm>
          <a:prstGeom prst="rect">
            <a:avLst/>
          </a:prstGeom>
          <a:noFill/>
          <a:ln/>
        </p:spPr>
        <p:txBody>
          <a:bodyPr wrap="square" lIns="0" tIns="0" rIns="0" bIns="0" rtlCol="0" anchor="ctr"/>
          <a:lstStyle/>
          <a:p>
            <a:pPr indent="0" marL="0">
              <a:buNone/>
            </a:pPr>
            <a:r>
              <a:rPr lang="en-US" sz="1600" b="1" dirty="0">
                <a:solidFill>
                  <a:schemeClr val="tx2"/>
                </a:solidFill>
              </a:rPr>
              <a:t>Runs as a workflow</a:t>
            </a:r>
            <a:endParaRPr lang="en-US" sz="1600" dirty="0"/>
          </a:p>
          <a:p>
            <a:pPr indent="0" marL="0">
              <a:buNone/>
            </a:pPr>
            <a:r>
              <a:rPr lang="en-US" sz="1400" dirty="0">
                <a:solidFill>
                  <a:schemeClr val="tx1"/>
                </a:solidFill>
              </a:rPr>
              <a:t>You build the steps visually, and results can sync to Attio.</a:t>
            </a:r>
            <a:endParaRPr lang="en-US" sz="1600" dirty="0"/>
          </a:p>
        </p:txBody>
      </p:sp>
      <p:sp>
        <p:nvSpPr>
          <p:cNvPr id="15" name="Free plan card"/>
          <p:cNvSpPr/>
          <p:nvPr/>
        </p:nvSpPr>
        <p:spPr>
          <a:xfrm>
            <a:off x="5120640" y="1143000"/>
            <a:ext cx="3566160" cy="3429000"/>
          </a:xfrm>
          <a:prstGeom prst="roundRect">
            <a:avLst>
              <a:gd name="adj" fmla="val 3200"/>
            </a:avLst>
          </a:prstGeom>
          <a:solidFill>
            <a:schemeClr val="tx2"/>
          </a:solidFill>
          <a:ln/>
        </p:spPr>
      </p:sp>
      <p:sp>
        <p:nvSpPr>
          <p:cNvPr id="16" name="Free plan heading"/>
          <p:cNvSpPr txBox="1"/>
          <p:nvPr/>
        </p:nvSpPr>
        <p:spPr>
          <a:xfrm>
            <a:off x="5349240" y="1280160"/>
            <a:ext cx="3108960" cy="365760"/>
          </a:xfrm>
          <a:prstGeom prst="rect">
            <a:avLst/>
          </a:prstGeom>
          <a:noFill/>
          <a:ln/>
        </p:spPr>
        <p:txBody>
          <a:bodyPr wrap="square" lIns="0" tIns="0" rIns="0" bIns="0" rtlCol="0" anchor="ctr"/>
          <a:lstStyle/>
          <a:p>
            <a:pPr indent="0" marL="0">
              <a:buNone/>
            </a:pPr>
            <a:r>
              <a:rPr lang="en-US" sz="1800" b="1" dirty="0">
                <a:solidFill>
                  <a:schemeClr val="bg1"/>
                </a:solidFill>
              </a:rPr>
              <a:t>Clay's free plan: $0</a:t>
            </a:r>
            <a:endParaRPr lang="en-US" sz="1800" dirty="0"/>
          </a:p>
        </p:txBody>
      </p:sp>
      <p:sp>
        <p:nvSpPr>
          <p:cNvPr id="17" name="Free number data credits a month"/>
          <p:cNvSpPr txBox="1"/>
          <p:nvPr/>
        </p:nvSpPr>
        <p:spPr>
          <a:xfrm>
            <a:off x="5349240" y="1783080"/>
            <a:ext cx="1097280" cy="548640"/>
          </a:xfrm>
          <a:prstGeom prst="rect">
            <a:avLst/>
          </a:prstGeom>
          <a:noFill/>
          <a:ln/>
        </p:spPr>
        <p:txBody>
          <a:bodyPr wrap="square" lIns="0" tIns="0" rIns="0" bIns="0" rtlCol="0" anchor="ctr"/>
          <a:lstStyle/>
          <a:p>
            <a:pPr indent="0" marL="0">
              <a:buNone/>
            </a:pPr>
            <a:r>
              <a:rPr lang="en-US" sz="3000" b="1" dirty="0">
                <a:solidFill>
                  <a:schemeClr val="accent2"/>
                </a:solidFill>
              </a:rPr>
              <a:t>100</a:t>
            </a:r>
            <a:endParaRPr lang="en-US" sz="3000" dirty="0"/>
          </a:p>
        </p:txBody>
      </p:sp>
      <p:sp>
        <p:nvSpPr>
          <p:cNvPr id="18" name="Free label data credits a month"/>
          <p:cNvSpPr txBox="1"/>
          <p:nvPr/>
        </p:nvSpPr>
        <p:spPr>
          <a:xfrm>
            <a:off x="6492240" y="1783080"/>
            <a:ext cx="2011680" cy="548640"/>
          </a:xfrm>
          <a:prstGeom prst="rect">
            <a:avLst/>
          </a:prstGeom>
          <a:noFill/>
          <a:ln/>
        </p:spPr>
        <p:txBody>
          <a:bodyPr wrap="square" lIns="0" tIns="0" rIns="0" bIns="0" rtlCol="0" anchor="ctr"/>
          <a:lstStyle/>
          <a:p>
            <a:pPr indent="0" marL="0">
              <a:buNone/>
            </a:pPr>
            <a:r>
              <a:rPr lang="en-US" sz="1400" dirty="0">
                <a:solidFill>
                  <a:schemeClr val="bg1"/>
                </a:solidFill>
              </a:rPr>
              <a:t>data credits a month</a:t>
            </a:r>
            <a:endParaRPr lang="en-US" sz="1400" dirty="0"/>
          </a:p>
        </p:txBody>
      </p:sp>
      <p:sp>
        <p:nvSpPr>
          <p:cNvPr id="19" name="Free number actions a month"/>
          <p:cNvSpPr txBox="1"/>
          <p:nvPr/>
        </p:nvSpPr>
        <p:spPr>
          <a:xfrm>
            <a:off x="5349240" y="2423160"/>
            <a:ext cx="1097280" cy="548640"/>
          </a:xfrm>
          <a:prstGeom prst="rect">
            <a:avLst/>
          </a:prstGeom>
          <a:noFill/>
          <a:ln/>
        </p:spPr>
        <p:txBody>
          <a:bodyPr wrap="square" lIns="0" tIns="0" rIns="0" bIns="0" rtlCol="0" anchor="ctr"/>
          <a:lstStyle/>
          <a:p>
            <a:pPr indent="0" marL="0">
              <a:buNone/>
            </a:pPr>
            <a:r>
              <a:rPr lang="en-US" sz="3000" b="1" dirty="0">
                <a:solidFill>
                  <a:schemeClr val="accent2"/>
                </a:solidFill>
              </a:rPr>
              <a:t>500</a:t>
            </a:r>
            <a:endParaRPr lang="en-US" sz="3000" dirty="0"/>
          </a:p>
        </p:txBody>
      </p:sp>
      <p:sp>
        <p:nvSpPr>
          <p:cNvPr id="20" name="Free label actions a month"/>
          <p:cNvSpPr txBox="1"/>
          <p:nvPr/>
        </p:nvSpPr>
        <p:spPr>
          <a:xfrm>
            <a:off x="6492240" y="2423160"/>
            <a:ext cx="2011680" cy="548640"/>
          </a:xfrm>
          <a:prstGeom prst="rect">
            <a:avLst/>
          </a:prstGeom>
          <a:noFill/>
          <a:ln/>
        </p:spPr>
        <p:txBody>
          <a:bodyPr wrap="square" lIns="0" tIns="0" rIns="0" bIns="0" rtlCol="0" anchor="ctr"/>
          <a:lstStyle/>
          <a:p>
            <a:pPr indent="0" marL="0">
              <a:buNone/>
            </a:pPr>
            <a:r>
              <a:rPr lang="en-US" sz="1400" dirty="0">
                <a:solidFill>
                  <a:schemeClr val="bg1"/>
                </a:solidFill>
              </a:rPr>
              <a:t>actions a month</a:t>
            </a:r>
            <a:endParaRPr lang="en-US" sz="1400" dirty="0"/>
          </a:p>
        </p:txBody>
      </p:sp>
      <p:sp>
        <p:nvSpPr>
          <p:cNvPr id="21" name="Free number rows per table"/>
          <p:cNvSpPr txBox="1"/>
          <p:nvPr/>
        </p:nvSpPr>
        <p:spPr>
          <a:xfrm>
            <a:off x="5349240" y="3063240"/>
            <a:ext cx="1097280" cy="548640"/>
          </a:xfrm>
          <a:prstGeom prst="rect">
            <a:avLst/>
          </a:prstGeom>
          <a:noFill/>
          <a:ln/>
        </p:spPr>
        <p:txBody>
          <a:bodyPr wrap="square" lIns="0" tIns="0" rIns="0" bIns="0" rtlCol="0" anchor="ctr"/>
          <a:lstStyle/>
          <a:p>
            <a:pPr indent="0" marL="0">
              <a:buNone/>
            </a:pPr>
            <a:r>
              <a:rPr lang="en-US" sz="3000" b="1" dirty="0">
                <a:solidFill>
                  <a:schemeClr val="accent2"/>
                </a:solidFill>
              </a:rPr>
              <a:t>200</a:t>
            </a:r>
            <a:endParaRPr lang="en-US" sz="3000" dirty="0"/>
          </a:p>
        </p:txBody>
      </p:sp>
      <p:sp>
        <p:nvSpPr>
          <p:cNvPr id="22" name="Free label rows per table"/>
          <p:cNvSpPr txBox="1"/>
          <p:nvPr/>
        </p:nvSpPr>
        <p:spPr>
          <a:xfrm>
            <a:off x="6492240" y="3063240"/>
            <a:ext cx="2011680" cy="548640"/>
          </a:xfrm>
          <a:prstGeom prst="rect">
            <a:avLst/>
          </a:prstGeom>
          <a:noFill/>
          <a:ln/>
        </p:spPr>
        <p:txBody>
          <a:bodyPr wrap="square" lIns="0" tIns="0" rIns="0" bIns="0" rtlCol="0" anchor="ctr"/>
          <a:lstStyle/>
          <a:p>
            <a:pPr indent="0" marL="0">
              <a:buNone/>
            </a:pPr>
            <a:r>
              <a:rPr lang="en-US" sz="1400" dirty="0">
                <a:solidFill>
                  <a:schemeClr val="bg1"/>
                </a:solidFill>
              </a:rPr>
              <a:t>rows per table</a:t>
            </a:r>
            <a:endParaRPr lang="en-US" sz="1400" dirty="0"/>
          </a:p>
        </p:txBody>
      </p:sp>
      <p:sp>
        <p:nvSpPr>
          <p:cNvPr id="23" name="Free plan limits"/>
          <p:cNvSpPr txBox="1"/>
          <p:nvPr/>
        </p:nvSpPr>
        <p:spPr>
          <a:xfrm>
            <a:off x="5349240" y="3749040"/>
            <a:ext cx="3108960" cy="731520"/>
          </a:xfrm>
          <a:prstGeom prst="rect">
            <a:avLst/>
          </a:prstGeom>
          <a:noFill/>
          <a:ln/>
        </p:spPr>
        <p:txBody>
          <a:bodyPr wrap="square" lIns="0" tIns="0" rIns="0" bIns="0" rtlCol="0" anchor="t"/>
          <a:lstStyle/>
          <a:p>
            <a:pPr indent="0" marL="0">
              <a:buNone/>
            </a:pPr>
            <a:r>
              <a:rPr lang="en-US" sz="1200" dirty="0">
                <a:solidFill>
                  <a:schemeClr val="bg2"/>
                </a:solidFill>
              </a:rPr>
              <a:t>Clay has an Attio integration, but its pricing page lists CRM integrations as not on the free plan.</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You step in when it counts</a:t>
            </a:r>
            <a:endParaRPr lang="en-US" sz="3000" dirty="0"/>
          </a:p>
        </p:txBody>
      </p:sp>
      <p:sp>
        <p:nvSpPr>
          <p:cNvPr id="3" name="Phase header 1"/>
          <p:cNvSpPr/>
          <p:nvPr/>
        </p:nvSpPr>
        <p:spPr>
          <a:xfrm>
            <a:off x="457200" y="1143000"/>
            <a:ext cx="2514600" cy="777240"/>
          </a:xfrm>
          <a:prstGeom prst="roundRect">
            <a:avLst>
              <a:gd name="adj" fmla="val 11765"/>
            </a:avLst>
          </a:prstGeom>
          <a:solidFill>
            <a:schemeClr val="tx2"/>
          </a:solidFill>
          <a:ln/>
        </p:spPr>
      </p:sp>
      <p:sp>
        <p:nvSpPr>
          <p:cNvPr id="4" name="Phase title 1"/>
          <p:cNvSpPr txBox="1"/>
          <p:nvPr/>
        </p:nvSpPr>
        <p:spPr>
          <a:xfrm>
            <a:off x="640080" y="1143000"/>
            <a:ext cx="2148840" cy="777240"/>
          </a:xfrm>
          <a:prstGeom prst="rect">
            <a:avLst/>
          </a:prstGeom>
          <a:noFill/>
          <a:ln/>
        </p:spPr>
        <p:txBody>
          <a:bodyPr wrap="square" lIns="0" tIns="0" rIns="0" bIns="0" rtlCol="0" anchor="ctr"/>
          <a:lstStyle/>
          <a:p>
            <a:pPr indent="0" marL="0">
              <a:buNone/>
            </a:pPr>
            <a:r>
              <a:rPr lang="en-US" sz="1000" b="1" dirty="0">
                <a:solidFill>
                  <a:schemeClr val="accent2"/>
                </a:solidFill>
              </a:rPr>
              <a:t>PHASE 1</a:t>
            </a:r>
            <a:endParaRPr lang="en-US" sz="1000" dirty="0"/>
          </a:p>
          <a:p>
            <a:pPr indent="0" marL="0">
              <a:buNone/>
            </a:pPr>
            <a:r>
              <a:rPr lang="en-US" sz="1700" b="1" dirty="0">
                <a:solidFill>
                  <a:schemeClr val="bg1"/>
                </a:solidFill>
              </a:rPr>
              <a:t>Discover</a:t>
            </a:r>
            <a:endParaRPr lang="en-US" sz="1000" dirty="0"/>
          </a:p>
        </p:txBody>
      </p:sp>
      <p:sp>
        <p:nvSpPr>
          <p:cNvPr id="5" name="Phase body 1"/>
          <p:cNvSpPr/>
          <p:nvPr/>
        </p:nvSpPr>
        <p:spPr>
          <a:xfrm>
            <a:off x="457200" y="2057400"/>
            <a:ext cx="2514600" cy="2514600"/>
          </a:xfrm>
          <a:prstGeom prst="roundRect">
            <a:avLst>
              <a:gd name="adj" fmla="val 3636"/>
            </a:avLst>
          </a:prstGeom>
          <a:solidFill>
            <a:schemeClr val="bg2"/>
          </a:solidFill>
          <a:ln/>
        </p:spPr>
      </p:sp>
      <p:sp>
        <p:nvSpPr>
          <p:cNvPr id="6" name="Phase points 1"/>
          <p:cNvSpPr txBox="1"/>
          <p:nvPr/>
        </p:nvSpPr>
        <p:spPr>
          <a:xfrm>
            <a:off x="640080" y="2194560"/>
            <a:ext cx="214884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Clay builds lists of companies for every route and market</a:t>
            </a:r>
            <a:endParaRPr lang="en-US" sz="1400" dirty="0"/>
          </a:p>
          <a:p>
            <a:pPr marL="342900" indent="-342900">
              <a:spcAft>
                <a:spcPts val="800"/>
              </a:spcAft>
              <a:buSzPct val="100000"/>
              <a:buChar char="•"/>
            </a:pPr>
            <a:r>
              <a:rPr lang="en-US" sz="1400" dirty="0">
                <a:solidFill>
                  <a:schemeClr val="tx1"/>
                </a:solidFill>
              </a:rPr>
              <a:t>Claygent reads each website and scores how well they fit Axo</a:t>
            </a:r>
            <a:endParaRPr lang="en-US" sz="1400" dirty="0"/>
          </a:p>
        </p:txBody>
      </p:sp>
      <p:sp>
        <p:nvSpPr>
          <p:cNvPr id="7" name="Phase who 1"/>
          <p:cNvSpPr txBox="1"/>
          <p:nvPr/>
        </p:nvSpPr>
        <p:spPr>
          <a:xfrm>
            <a:off x="640080" y="3977640"/>
            <a:ext cx="2148840" cy="457200"/>
          </a:xfrm>
          <a:prstGeom prst="rect">
            <a:avLst/>
          </a:prstGeom>
          <a:noFill/>
          <a:ln/>
        </p:spPr>
        <p:txBody>
          <a:bodyPr wrap="square" lIns="0" tIns="0" rIns="0" bIns="0" rtlCol="0" anchor="ctr"/>
          <a:lstStyle/>
          <a:p>
            <a:pPr indent="0" marL="0">
              <a:buNone/>
            </a:pPr>
            <a:r>
              <a:rPr lang="en-US" sz="1300" b="1" dirty="0">
                <a:solidFill>
                  <a:schemeClr val="accent1"/>
                </a:solidFill>
              </a:rPr>
              <a:t>Done by the tool</a:t>
            </a:r>
            <a:endParaRPr lang="en-US" sz="1300" dirty="0"/>
          </a:p>
        </p:txBody>
      </p:sp>
      <p:sp>
        <p:nvSpPr>
          <p:cNvPr id="8" name="Phase arrow 1"/>
          <p:cNvSpPr/>
          <p:nvPr/>
        </p:nvSpPr>
        <p:spPr>
          <a:xfrm>
            <a:off x="3008376" y="1531620"/>
            <a:ext cx="269748" cy="0"/>
          </a:xfrm>
          <a:prstGeom prst="line">
            <a:avLst/>
          </a:prstGeom>
          <a:noFill/>
          <a:ln w="25400">
            <a:solidFill>
              <a:srgbClr val="13867F"/>
            </a:solidFill>
            <a:prstDash val="solid"/>
            <a:tailEnd type="triangle"/>
          </a:ln>
        </p:spPr>
      </p:sp>
      <p:sp>
        <p:nvSpPr>
          <p:cNvPr id="9" name="Phase header 2"/>
          <p:cNvSpPr/>
          <p:nvPr/>
        </p:nvSpPr>
        <p:spPr>
          <a:xfrm>
            <a:off x="3314700" y="1143000"/>
            <a:ext cx="2514600" cy="777240"/>
          </a:xfrm>
          <a:prstGeom prst="roundRect">
            <a:avLst>
              <a:gd name="adj" fmla="val 11765"/>
            </a:avLst>
          </a:prstGeom>
          <a:solidFill>
            <a:schemeClr val="tx2"/>
          </a:solidFill>
          <a:ln/>
        </p:spPr>
      </p:sp>
      <p:sp>
        <p:nvSpPr>
          <p:cNvPr id="10" name="Phase title 2"/>
          <p:cNvSpPr txBox="1"/>
          <p:nvPr/>
        </p:nvSpPr>
        <p:spPr>
          <a:xfrm>
            <a:off x="3497580" y="1143000"/>
            <a:ext cx="2148840" cy="777240"/>
          </a:xfrm>
          <a:prstGeom prst="rect">
            <a:avLst/>
          </a:prstGeom>
          <a:noFill/>
          <a:ln/>
        </p:spPr>
        <p:txBody>
          <a:bodyPr wrap="square" lIns="0" tIns="0" rIns="0" bIns="0" rtlCol="0" anchor="ctr"/>
          <a:lstStyle/>
          <a:p>
            <a:pPr indent="0" marL="0">
              <a:buNone/>
            </a:pPr>
            <a:r>
              <a:rPr lang="en-US" sz="1000" b="1" dirty="0">
                <a:solidFill>
                  <a:schemeClr val="accent2"/>
                </a:solidFill>
              </a:rPr>
              <a:t>PHASE 2</a:t>
            </a:r>
            <a:endParaRPr lang="en-US" sz="1000" dirty="0"/>
          </a:p>
          <a:p>
            <a:pPr indent="0" marL="0">
              <a:buNone/>
            </a:pPr>
            <a:r>
              <a:rPr lang="en-US" sz="1700" b="1" dirty="0">
                <a:solidFill>
                  <a:schemeClr val="bg1"/>
                </a:solidFill>
              </a:rPr>
              <a:t>Engage</a:t>
            </a:r>
            <a:endParaRPr lang="en-US" sz="1000" dirty="0"/>
          </a:p>
        </p:txBody>
      </p:sp>
      <p:sp>
        <p:nvSpPr>
          <p:cNvPr id="11" name="Phase body 2"/>
          <p:cNvSpPr/>
          <p:nvPr/>
        </p:nvSpPr>
        <p:spPr>
          <a:xfrm>
            <a:off x="3314700" y="2057400"/>
            <a:ext cx="2514600" cy="2514600"/>
          </a:xfrm>
          <a:prstGeom prst="roundRect">
            <a:avLst>
              <a:gd name="adj" fmla="val 3636"/>
            </a:avLst>
          </a:prstGeom>
          <a:solidFill>
            <a:schemeClr val="bg2"/>
          </a:solidFill>
          <a:ln/>
        </p:spPr>
      </p:sp>
      <p:sp>
        <p:nvSpPr>
          <p:cNvPr id="12" name="Phase points 2"/>
          <p:cNvSpPr txBox="1"/>
          <p:nvPr/>
        </p:nvSpPr>
        <p:spPr>
          <a:xfrm>
            <a:off x="3497580" y="2194560"/>
            <a:ext cx="214884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First messages and follow-ups are drafted for each company</a:t>
            </a:r>
            <a:endParaRPr lang="en-US" sz="1400" dirty="0"/>
          </a:p>
          <a:p>
            <a:pPr marL="342900" indent="-342900">
              <a:spcAft>
                <a:spcPts val="800"/>
              </a:spcAft>
              <a:buSzPct val="100000"/>
              <a:buChar char="•"/>
            </a:pPr>
            <a:r>
              <a:rPr lang="en-US" sz="1400" dirty="0">
                <a:solidFill>
                  <a:schemeClr val="tx1"/>
                </a:solidFill>
              </a:rPr>
              <a:t>A person approves and sends, handles replies and books the meeting</a:t>
            </a:r>
            <a:endParaRPr lang="en-US" sz="1400" dirty="0"/>
          </a:p>
        </p:txBody>
      </p:sp>
      <p:sp>
        <p:nvSpPr>
          <p:cNvPr id="13" name="Phase who 2"/>
          <p:cNvSpPr txBox="1"/>
          <p:nvPr/>
        </p:nvSpPr>
        <p:spPr>
          <a:xfrm>
            <a:off x="3497580" y="3977640"/>
            <a:ext cx="2148840" cy="457200"/>
          </a:xfrm>
          <a:prstGeom prst="rect">
            <a:avLst/>
          </a:prstGeom>
          <a:noFill/>
          <a:ln/>
        </p:spPr>
        <p:txBody>
          <a:bodyPr wrap="square" lIns="0" tIns="0" rIns="0" bIns="0" rtlCol="0" anchor="ctr"/>
          <a:lstStyle/>
          <a:p>
            <a:pPr indent="0" marL="0">
              <a:buNone/>
            </a:pPr>
            <a:r>
              <a:rPr lang="en-US" sz="1300" b="1" dirty="0">
                <a:solidFill>
                  <a:schemeClr val="accent1"/>
                </a:solidFill>
              </a:rPr>
              <a:t>Tool drafts, Ilmah approves</a:t>
            </a:r>
            <a:endParaRPr lang="en-US" sz="1300" dirty="0"/>
          </a:p>
        </p:txBody>
      </p:sp>
      <p:sp>
        <p:nvSpPr>
          <p:cNvPr id="14" name="Phase arrow 2"/>
          <p:cNvSpPr/>
          <p:nvPr/>
        </p:nvSpPr>
        <p:spPr>
          <a:xfrm>
            <a:off x="5865876" y="1531620"/>
            <a:ext cx="269748" cy="0"/>
          </a:xfrm>
          <a:prstGeom prst="line">
            <a:avLst/>
          </a:prstGeom>
          <a:noFill/>
          <a:ln w="25400">
            <a:solidFill>
              <a:srgbClr val="13867F"/>
            </a:solidFill>
            <a:prstDash val="solid"/>
            <a:tailEnd type="triangle"/>
          </a:ln>
        </p:spPr>
      </p:sp>
      <p:sp>
        <p:nvSpPr>
          <p:cNvPr id="15" name="Phase header 3"/>
          <p:cNvSpPr/>
          <p:nvPr/>
        </p:nvSpPr>
        <p:spPr>
          <a:xfrm>
            <a:off x="6172200" y="1143000"/>
            <a:ext cx="2514600" cy="777240"/>
          </a:xfrm>
          <a:prstGeom prst="roundRect">
            <a:avLst>
              <a:gd name="adj" fmla="val 11765"/>
            </a:avLst>
          </a:prstGeom>
          <a:solidFill>
            <a:schemeClr val="accent1"/>
          </a:solidFill>
          <a:ln/>
        </p:spPr>
      </p:sp>
      <p:sp>
        <p:nvSpPr>
          <p:cNvPr id="16" name="Phase title 3"/>
          <p:cNvSpPr txBox="1"/>
          <p:nvPr/>
        </p:nvSpPr>
        <p:spPr>
          <a:xfrm>
            <a:off x="6355080" y="1143000"/>
            <a:ext cx="2148840" cy="777240"/>
          </a:xfrm>
          <a:prstGeom prst="rect">
            <a:avLst/>
          </a:prstGeom>
          <a:noFill/>
          <a:ln/>
        </p:spPr>
        <p:txBody>
          <a:bodyPr wrap="square" lIns="0" tIns="0" rIns="0" bIns="0" rtlCol="0" anchor="ctr"/>
          <a:lstStyle/>
          <a:p>
            <a:pPr indent="0" marL="0">
              <a:buNone/>
            </a:pPr>
            <a:r>
              <a:rPr lang="en-US" sz="1000" b="1" dirty="0">
                <a:solidFill>
                  <a:schemeClr val="accent2"/>
                </a:solidFill>
              </a:rPr>
              <a:t>PHASE 3</a:t>
            </a:r>
            <a:endParaRPr lang="en-US" sz="1000" dirty="0"/>
          </a:p>
          <a:p>
            <a:pPr indent="0" marL="0">
              <a:buNone/>
            </a:pPr>
            <a:r>
              <a:rPr lang="en-US" sz="1700" b="1" dirty="0">
                <a:solidFill>
                  <a:schemeClr val="bg1"/>
                </a:solidFill>
              </a:rPr>
              <a:t>Meet and close</a:t>
            </a:r>
            <a:endParaRPr lang="en-US" sz="1000" dirty="0"/>
          </a:p>
        </p:txBody>
      </p:sp>
      <p:sp>
        <p:nvSpPr>
          <p:cNvPr id="17" name="Phase body 3"/>
          <p:cNvSpPr/>
          <p:nvPr/>
        </p:nvSpPr>
        <p:spPr>
          <a:xfrm>
            <a:off x="6172200" y="2057400"/>
            <a:ext cx="2514600" cy="2514600"/>
          </a:xfrm>
          <a:prstGeom prst="roundRect">
            <a:avLst>
              <a:gd name="adj" fmla="val 3636"/>
            </a:avLst>
          </a:prstGeom>
          <a:solidFill>
            <a:schemeClr val="bg2"/>
          </a:solidFill>
          <a:ln w="25400">
            <a:solidFill>
              <a:schemeClr val="accent1"/>
            </a:solidFill>
            <a:prstDash val="solid"/>
          </a:ln>
        </p:spPr>
      </p:sp>
      <p:sp>
        <p:nvSpPr>
          <p:cNvPr id="18" name="Phase points 3"/>
          <p:cNvSpPr txBox="1"/>
          <p:nvPr/>
        </p:nvSpPr>
        <p:spPr>
          <a:xfrm>
            <a:off x="6355080" y="2194560"/>
            <a:ext cx="214884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 one-page brief on each ready client lands with you</a:t>
            </a:r>
            <a:endParaRPr lang="en-US" sz="1400" dirty="0"/>
          </a:p>
          <a:p>
            <a:pPr marL="342900" indent="-342900">
              <a:spcAft>
                <a:spcPts val="800"/>
              </a:spcAft>
              <a:buSzPct val="100000"/>
              <a:buChar char="•"/>
            </a:pPr>
            <a:r>
              <a:rPr lang="en-US" sz="1400" dirty="0">
                <a:solidFill>
                  <a:schemeClr val="tx1"/>
                </a:solidFill>
              </a:rPr>
              <a:t>You take the conversation from there, with the groundwork done</a:t>
            </a:r>
            <a:endParaRPr lang="en-US" sz="1400" dirty="0"/>
          </a:p>
        </p:txBody>
      </p:sp>
      <p:sp>
        <p:nvSpPr>
          <p:cNvPr id="19" name="Phase who 3"/>
          <p:cNvSpPr txBox="1"/>
          <p:nvPr/>
        </p:nvSpPr>
        <p:spPr>
          <a:xfrm>
            <a:off x="6355080" y="3977640"/>
            <a:ext cx="2148840" cy="457200"/>
          </a:xfrm>
          <a:prstGeom prst="rect">
            <a:avLst/>
          </a:prstGeom>
          <a:noFill/>
          <a:ln/>
        </p:spPr>
        <p:txBody>
          <a:bodyPr wrap="square" lIns="0" tIns="0" rIns="0" bIns="0" rtlCol="0" anchor="ctr"/>
          <a:lstStyle/>
          <a:p>
            <a:pPr indent="0" marL="0">
              <a:buNone/>
            </a:pPr>
            <a:r>
              <a:rPr lang="en-US" sz="1300" b="1" dirty="0">
                <a:solidFill>
                  <a:schemeClr val="accent1"/>
                </a:solidFill>
              </a:rPr>
              <a:t>You</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Where Clay can find potential clients</a:t>
            </a:r>
            <a:endParaRPr lang="en-US" sz="3000" dirty="0"/>
          </a:p>
        </p:txBody>
      </p:sp>
      <p:graphicFrame>
        <p:nvGraphicFramePr>
          <p:cNvPr id="8" name="Target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920240"/>
                <a:gridCol w="2286000"/>
                <a:gridCol w="1828800"/>
                <a:gridCol w="2194560"/>
              </a:tblGrid>
              <a:tr h="365760">
                <a:tc>
                  <a:txBody>
                    <a:bodyPr/>
                    <a:lstStyle/>
                    <a:p>
                      <a:pPr indent="0" marL="0">
                        <a:buNone/>
                      </a:pPr>
                      <a:r>
                        <a:rPr lang="en-US" sz="1300" b="1" dirty="0">
                          <a:solidFill>
                            <a:schemeClr val="bg1"/>
                          </a:solidFill>
                        </a:rPr>
                        <a:t>Route</a:t>
                      </a:r>
                      <a:endParaRPr lang="en-US" sz="13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to search for</a:t>
                      </a:r>
                      <a:endParaRPr lang="en-US" sz="13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Who to contact</a:t>
                      </a:r>
                      <a:endParaRPr lang="en-US" sz="13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Claygent checks</a:t>
                      </a:r>
                      <a:endParaRPr lang="en-US" sz="13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chemeClr val="tx2"/>
                    </a:solidFill>
                  </a:tcPr>
                </a:tc>
              </a:tr>
              <a:tr h="640080">
                <a:tc>
                  <a:txBody>
                    <a:bodyPr/>
                    <a:lstStyle/>
                    <a:p>
                      <a:pPr indent="0" marL="0">
                        <a:buNone/>
                      </a:pPr>
                      <a:r>
                        <a:rPr lang="en-US" sz="1200" b="1" dirty="0">
                          <a:solidFill>
                            <a:schemeClr val="tx1"/>
                          </a:solidFill>
                        </a:rPr>
                        <a:t>B2B: employers and corporate wellness</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chemeClr val="tx1"/>
                          </a:solidFill>
                        </a:rPr>
                        <a:t>Mid-size and larger companies with a wellbeing or benefits focus</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chemeClr val="tx1"/>
                          </a:solidFill>
                        </a:rPr>
                        <a:t>People or HR lead, head of benefits</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chemeClr val="tx1"/>
                          </a:solidFill>
                        </a:rPr>
                        <a:t>Health or wellbeing benefits listed? Size and location?</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640080">
                <a:tc>
                  <a:txBody>
                    <a:bodyPr/>
                    <a:lstStyle/>
                    <a:p>
                      <a:pPr indent="0" marL="0">
                        <a:buNone/>
                      </a:pPr>
                      <a:r>
                        <a:rPr lang="en-US" sz="1200" b="1" dirty="0">
                          <a:solidFill>
                            <a:schemeClr val="tx1"/>
                          </a:solidFill>
                        </a:rPr>
                        <a:t>B2B2C: wellness centres, gyms and spas</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chemeClr val="tx1"/>
                          </a:solidFill>
                        </a:rPr>
                        <a:t>Premium venues in the five markets</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chemeClr val="tx1"/>
                          </a:solidFill>
                        </a:rPr>
                        <a:t>General manager or head of membership</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chemeClr val="tx1"/>
                          </a:solidFill>
                        </a:rPr>
                        <a:t>Premium positioning; existing health-testing partners?</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640080">
                <a:tc>
                  <a:txBody>
                    <a:bodyPr/>
                    <a:lstStyle/>
                    <a:p>
                      <a:pPr indent="0" marL="0">
                        <a:buNone/>
                      </a:pPr>
                      <a:r>
                        <a:rPr lang="en-US" sz="1200" b="1" dirty="0">
                          <a:solidFill>
                            <a:schemeClr val="tx1"/>
                          </a:solidFill>
                        </a:rPr>
                        <a:t>B2B2C: clinics and practitioners</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chemeClr val="tx1"/>
                          </a:solidFill>
                        </a:rPr>
                        <a:t>Preventive, longevity, sports and nutrition clinics</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chemeClr val="tx1"/>
                          </a:solidFill>
                        </a:rPr>
                        <a:t>Clinic director or practice owner</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chemeClr val="tx1"/>
                          </a:solidFill>
                        </a:rPr>
                        <a:t>Already offers testing? Complement or compete with Axo?</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640080">
                <a:tc>
                  <a:txBody>
                    <a:bodyPr/>
                    <a:lstStyle/>
                    <a:p>
                      <a:pPr indent="0" marL="0">
                        <a:buNone/>
                      </a:pPr>
                      <a:r>
                        <a:rPr lang="en-US" sz="1200" b="1" dirty="0">
                          <a:solidFill>
                            <a:schemeClr val="tx1"/>
                          </a:solidFill>
                        </a:rPr>
                        <a:t>B2C: creators and communities</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chemeClr val="tx1"/>
                          </a:solidFill>
                        </a:rPr>
                        <a:t>Longevity, fitness and health podcasters, writers, YouTubers</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chemeClr val="tx1"/>
                          </a:solidFill>
                        </a:rPr>
                        <a:t>The creator or their manager</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chemeClr val="tx1"/>
                          </a:solidFill>
                        </a:rPr>
                        <a:t>Audience topic and size; already promotes health testing?</a:t>
                      </a:r>
                      <a:endParaRPr lang="en-US" sz="1200" dirty="0"/>
                    </a:p>
                  </a:txBody>
                  <a:tcPr marL="91440" marR="91440" marT="0" marB="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bl>
          </a:graphicData>
        </a:graphic>
      </p:graphicFrame>
      <p:sp>
        <p:nvSpPr>
          <p:cNvPr id="4" name="Table note"/>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200" i="1" dirty="0">
                <a:solidFill>
                  <a:schemeClr val="tx2"/>
                </a:solidFill>
              </a:rPr>
              <a:t>This covers every route above in all five markets: UK, Ireland, the Netherlands, Germany and Spain. The free trial runs one client type in one country; a full run needs a paid plan or our own build.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What lands on your desk</a:t>
            </a:r>
            <a:endParaRPr lang="en-US" sz="3000" dirty="0"/>
          </a:p>
        </p:txBody>
      </p:sp>
      <p:sp>
        <p:nvSpPr>
          <p:cNvPr id="3" name="Card benefits"/>
          <p:cNvSpPr txBox="1"/>
          <p:nvPr/>
        </p:nvSpPr>
        <p:spPr>
          <a:xfrm>
            <a:off x="457200" y="1234440"/>
            <a:ext cx="3383280" cy="23774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One page, read in under a minute</a:t>
            </a:r>
            <a:endParaRPr lang="en-US" sz="1600" dirty="0"/>
          </a:p>
          <a:p>
            <a:pPr marL="342900" indent="-342900">
              <a:spcAft>
                <a:spcPts val="1200"/>
              </a:spcAft>
              <a:buSzPct val="100000"/>
              <a:buChar char="•"/>
            </a:pPr>
            <a:r>
              <a:rPr lang="en-US" sz="1600" dirty="0">
                <a:solidFill>
                  <a:schemeClr val="tx1"/>
                </a:solidFill>
              </a:rPr>
              <a:t>Everything already confirmed, so you skip the early back-and-forth</a:t>
            </a:r>
            <a:endParaRPr lang="en-US" sz="1600" dirty="0"/>
          </a:p>
          <a:p>
            <a:pPr marL="342900" indent="-342900">
              <a:spcAft>
                <a:spcPts val="1200"/>
              </a:spcAft>
              <a:buSzPct val="100000"/>
              <a:buChar char="•"/>
            </a:pPr>
            <a:r>
              <a:rPr lang="en-US" sz="1600" dirty="0">
                <a:solidFill>
                  <a:schemeClr val="tx1"/>
                </a:solidFill>
              </a:rPr>
              <a:t>Sent to you by WhatsApp or email</a:t>
            </a:r>
            <a:endParaRPr lang="en-US" sz="1600" dirty="0"/>
          </a:p>
        </p:txBody>
      </p:sp>
      <p:sp>
        <p:nvSpPr>
          <p:cNvPr id="4" name="Sample note"/>
          <p:cNvSpPr txBox="1"/>
          <p:nvPr/>
        </p:nvSpPr>
        <p:spPr>
          <a:xfrm>
            <a:off x="457200" y="3931920"/>
            <a:ext cx="3383280" cy="548640"/>
          </a:xfrm>
          <a:prstGeom prst="rect">
            <a:avLst/>
          </a:prstGeom>
          <a:noFill/>
          <a:ln/>
        </p:spPr>
        <p:txBody>
          <a:bodyPr wrap="square" lIns="0" tIns="0" rIns="0" bIns="0" rtlCol="0" anchor="t"/>
          <a:lstStyle/>
          <a:p>
            <a:pPr indent="0" marL="0">
              <a:buNone/>
            </a:pPr>
            <a:r>
              <a:rPr lang="en-US" sz="1200" i="1" dirty="0">
                <a:solidFill>
                  <a:schemeClr val="tx2"/>
                </a:solidFill>
              </a:rPr>
              <a:t>Sample only: the company and details are fictional.</a:t>
            </a:r>
            <a:endParaRPr lang="en-US" sz="1200" dirty="0"/>
          </a:p>
        </p:txBody>
      </p:sp>
      <p:sp>
        <p:nvSpPr>
          <p:cNvPr id="5" name="Deal card"/>
          <p:cNvSpPr/>
          <p:nvPr/>
        </p:nvSpPr>
        <p:spPr>
          <a:xfrm>
            <a:off x="4114800" y="1097280"/>
            <a:ext cx="4572000" cy="3520440"/>
          </a:xfrm>
          <a:prstGeom prst="roundRect">
            <a:avLst>
              <a:gd name="adj" fmla="val 3117"/>
            </a:avLst>
          </a:prstGeom>
          <a:solidFill>
            <a:schemeClr val="bg1"/>
          </a:solidFill>
          <a:ln w="12700">
            <a:solidFill>
              <a:srgbClr val="C9D8D5"/>
            </a:solidFill>
            <a:prstDash val="solid"/>
          </a:ln>
          <a:effectLst>
            <a:outerShdw sx="100000" sy="100000" kx="0" ky="0" algn="bl" rotWithShape="0" blurRad="76200" dist="25400" dir="5400000">
              <a:srgbClr val="000000">
                <a:alpha val="15000"/>
              </a:srgbClr>
            </a:outerShdw>
          </a:effectLst>
        </p:spPr>
      </p:sp>
      <p:sp>
        <p:nvSpPr>
          <p:cNvPr id="6" name="Deal card header"/>
          <p:cNvSpPr/>
          <p:nvPr/>
        </p:nvSpPr>
        <p:spPr>
          <a:xfrm>
            <a:off x="4114800" y="1097280"/>
            <a:ext cx="4572000" cy="457200"/>
          </a:xfrm>
          <a:prstGeom prst="roundRect">
            <a:avLst>
              <a:gd name="adj" fmla="val 24000"/>
            </a:avLst>
          </a:prstGeom>
          <a:solidFill>
            <a:schemeClr val="tx2"/>
          </a:solidFill>
          <a:ln/>
        </p:spPr>
      </p:sp>
      <p:sp>
        <p:nvSpPr>
          <p:cNvPr id="7" name="Deal card title"/>
          <p:cNvSpPr txBox="1"/>
          <p:nvPr/>
        </p:nvSpPr>
        <p:spPr>
          <a:xfrm>
            <a:off x="4297680" y="1097280"/>
            <a:ext cx="4206240" cy="457200"/>
          </a:xfrm>
          <a:prstGeom prst="rect">
            <a:avLst/>
          </a:prstGeom>
          <a:noFill/>
          <a:ln/>
        </p:spPr>
        <p:txBody>
          <a:bodyPr wrap="square" lIns="0" tIns="0" rIns="0" bIns="0" rtlCol="0" anchor="ctr"/>
          <a:lstStyle/>
          <a:p>
            <a:pPr indent="0" marL="0">
              <a:buNone/>
            </a:pPr>
            <a:r>
              <a:rPr lang="en-US" sz="1300" b="1" dirty="0">
                <a:solidFill>
                  <a:schemeClr val="bg1"/>
                </a:solidFill>
              </a:rPr>
              <a:t>DEAL CARD  |  SAMPLE</a:t>
            </a:r>
            <a:endParaRPr lang="en-US" sz="1300" dirty="0"/>
          </a:p>
        </p:txBody>
      </p:sp>
      <p:sp>
        <p:nvSpPr>
          <p:cNvPr id="8" name="Card label Company"/>
          <p:cNvSpPr txBox="1"/>
          <p:nvPr/>
        </p:nvSpPr>
        <p:spPr>
          <a:xfrm>
            <a:off x="4297680" y="1645920"/>
            <a:ext cx="914400" cy="365760"/>
          </a:xfrm>
          <a:prstGeom prst="rect">
            <a:avLst/>
          </a:prstGeom>
          <a:noFill/>
          <a:ln/>
        </p:spPr>
        <p:txBody>
          <a:bodyPr wrap="square" lIns="0" tIns="0" rIns="0" bIns="0" rtlCol="0" anchor="ctr"/>
          <a:lstStyle/>
          <a:p>
            <a:pPr indent="0" marL="0">
              <a:buNone/>
            </a:pPr>
            <a:r>
              <a:rPr lang="en-US" sz="1000" b="1" dirty="0">
                <a:solidFill>
                  <a:schemeClr val="accent1"/>
                </a:solidFill>
              </a:rPr>
              <a:t>COMPANY</a:t>
            </a:r>
            <a:endParaRPr lang="en-US" sz="1000" dirty="0"/>
          </a:p>
        </p:txBody>
      </p:sp>
      <p:sp>
        <p:nvSpPr>
          <p:cNvPr id="9" name="Card value Company"/>
          <p:cNvSpPr txBox="1"/>
          <p:nvPr/>
        </p:nvSpPr>
        <p:spPr>
          <a:xfrm>
            <a:off x="5257800" y="1645920"/>
            <a:ext cx="3291840" cy="365760"/>
          </a:xfrm>
          <a:prstGeom prst="rect">
            <a:avLst/>
          </a:prstGeom>
          <a:noFill/>
          <a:ln/>
        </p:spPr>
        <p:txBody>
          <a:bodyPr wrap="square" lIns="0" tIns="0" rIns="0" bIns="0" rtlCol="0" anchor="ctr"/>
          <a:lstStyle/>
          <a:p>
            <a:pPr indent="0" marL="0">
              <a:buNone/>
            </a:pPr>
            <a:r>
              <a:rPr lang="en-US" sz="1300" dirty="0">
                <a:solidFill>
                  <a:schemeClr val="tx1"/>
                </a:solidFill>
              </a:rPr>
              <a:t>Example Wellness Centre (fictional)</a:t>
            </a:r>
            <a:endParaRPr lang="en-US" sz="1300" dirty="0"/>
          </a:p>
        </p:txBody>
      </p:sp>
      <p:sp>
        <p:nvSpPr>
          <p:cNvPr id="10" name="Card label Route"/>
          <p:cNvSpPr txBox="1"/>
          <p:nvPr/>
        </p:nvSpPr>
        <p:spPr>
          <a:xfrm>
            <a:off x="4297680" y="2057400"/>
            <a:ext cx="914400" cy="365760"/>
          </a:xfrm>
          <a:prstGeom prst="rect">
            <a:avLst/>
          </a:prstGeom>
          <a:noFill/>
          <a:ln/>
        </p:spPr>
        <p:txBody>
          <a:bodyPr wrap="square" lIns="0" tIns="0" rIns="0" bIns="0" rtlCol="0" anchor="ctr"/>
          <a:lstStyle/>
          <a:p>
            <a:pPr indent="0" marL="0">
              <a:buNone/>
            </a:pPr>
            <a:r>
              <a:rPr lang="en-US" sz="1000" b="1" dirty="0">
                <a:solidFill>
                  <a:schemeClr val="accent1"/>
                </a:solidFill>
              </a:rPr>
              <a:t>ROUTE</a:t>
            </a:r>
            <a:endParaRPr lang="en-US" sz="1000" dirty="0"/>
          </a:p>
        </p:txBody>
      </p:sp>
      <p:sp>
        <p:nvSpPr>
          <p:cNvPr id="11" name="Card value Route"/>
          <p:cNvSpPr txBox="1"/>
          <p:nvPr/>
        </p:nvSpPr>
        <p:spPr>
          <a:xfrm>
            <a:off x="5257800" y="2057400"/>
            <a:ext cx="3291840" cy="365760"/>
          </a:xfrm>
          <a:prstGeom prst="rect">
            <a:avLst/>
          </a:prstGeom>
          <a:noFill/>
          <a:ln/>
        </p:spPr>
        <p:txBody>
          <a:bodyPr wrap="square" lIns="0" tIns="0" rIns="0" bIns="0" rtlCol="0" anchor="ctr"/>
          <a:lstStyle/>
          <a:p>
            <a:pPr indent="0" marL="0">
              <a:buNone/>
            </a:pPr>
            <a:r>
              <a:rPr lang="en-US" sz="1300" dirty="0">
                <a:solidFill>
                  <a:schemeClr val="tx1"/>
                </a:solidFill>
              </a:rPr>
              <a:t>B2B2C, wellness centre</a:t>
            </a:r>
            <a:endParaRPr lang="en-US" sz="1300" dirty="0"/>
          </a:p>
        </p:txBody>
      </p:sp>
      <p:sp>
        <p:nvSpPr>
          <p:cNvPr id="12" name="Card label Fit"/>
          <p:cNvSpPr txBox="1"/>
          <p:nvPr/>
        </p:nvSpPr>
        <p:spPr>
          <a:xfrm>
            <a:off x="4297680" y="2468880"/>
            <a:ext cx="914400" cy="365760"/>
          </a:xfrm>
          <a:prstGeom prst="rect">
            <a:avLst/>
          </a:prstGeom>
          <a:noFill/>
          <a:ln/>
        </p:spPr>
        <p:txBody>
          <a:bodyPr wrap="square" lIns="0" tIns="0" rIns="0" bIns="0" rtlCol="0" anchor="ctr"/>
          <a:lstStyle/>
          <a:p>
            <a:pPr indent="0" marL="0">
              <a:buNone/>
            </a:pPr>
            <a:r>
              <a:rPr lang="en-US" sz="1000" b="1" dirty="0">
                <a:solidFill>
                  <a:schemeClr val="accent1"/>
                </a:solidFill>
              </a:rPr>
              <a:t>FIT</a:t>
            </a:r>
            <a:endParaRPr lang="en-US" sz="1000" dirty="0"/>
          </a:p>
        </p:txBody>
      </p:sp>
      <p:sp>
        <p:nvSpPr>
          <p:cNvPr id="13" name="Card value Fit"/>
          <p:cNvSpPr txBox="1"/>
          <p:nvPr/>
        </p:nvSpPr>
        <p:spPr>
          <a:xfrm>
            <a:off x="5257800" y="2468880"/>
            <a:ext cx="3291840" cy="365760"/>
          </a:xfrm>
          <a:prstGeom prst="rect">
            <a:avLst/>
          </a:prstGeom>
          <a:noFill/>
          <a:ln/>
        </p:spPr>
        <p:txBody>
          <a:bodyPr wrap="square" lIns="0" tIns="0" rIns="0" bIns="0" rtlCol="0" anchor="ctr"/>
          <a:lstStyle/>
          <a:p>
            <a:pPr indent="0" marL="0">
              <a:buNone/>
            </a:pPr>
            <a:r>
              <a:rPr lang="en-US" sz="1300" dirty="0">
                <a:solidFill>
                  <a:schemeClr val="tx1"/>
                </a:solidFill>
              </a:rPr>
              <a:t>High: premium members, runs health programmes</a:t>
            </a:r>
            <a:endParaRPr lang="en-US" sz="1300" dirty="0"/>
          </a:p>
        </p:txBody>
      </p:sp>
      <p:sp>
        <p:nvSpPr>
          <p:cNvPr id="14" name="Card label Contact"/>
          <p:cNvSpPr txBox="1"/>
          <p:nvPr/>
        </p:nvSpPr>
        <p:spPr>
          <a:xfrm>
            <a:off x="4297680" y="2880360"/>
            <a:ext cx="914400" cy="365760"/>
          </a:xfrm>
          <a:prstGeom prst="rect">
            <a:avLst/>
          </a:prstGeom>
          <a:noFill/>
          <a:ln/>
        </p:spPr>
        <p:txBody>
          <a:bodyPr wrap="square" lIns="0" tIns="0" rIns="0" bIns="0" rtlCol="0" anchor="ctr"/>
          <a:lstStyle/>
          <a:p>
            <a:pPr indent="0" marL="0">
              <a:buNone/>
            </a:pPr>
            <a:r>
              <a:rPr lang="en-US" sz="1000" b="1" dirty="0">
                <a:solidFill>
                  <a:schemeClr val="accent1"/>
                </a:solidFill>
              </a:rPr>
              <a:t>CONTACT</a:t>
            </a:r>
            <a:endParaRPr lang="en-US" sz="1000" dirty="0"/>
          </a:p>
        </p:txBody>
      </p:sp>
      <p:sp>
        <p:nvSpPr>
          <p:cNvPr id="15" name="Card value Contact"/>
          <p:cNvSpPr txBox="1"/>
          <p:nvPr/>
        </p:nvSpPr>
        <p:spPr>
          <a:xfrm>
            <a:off x="5257800" y="2880360"/>
            <a:ext cx="3291840" cy="365760"/>
          </a:xfrm>
          <a:prstGeom prst="rect">
            <a:avLst/>
          </a:prstGeom>
          <a:noFill/>
          <a:ln/>
        </p:spPr>
        <p:txBody>
          <a:bodyPr wrap="square" lIns="0" tIns="0" rIns="0" bIns="0" rtlCol="0" anchor="ctr"/>
          <a:lstStyle/>
          <a:p>
            <a:pPr indent="0" marL="0">
              <a:buNone/>
            </a:pPr>
            <a:r>
              <a:rPr lang="en-US" sz="1300" dirty="0">
                <a:solidFill>
                  <a:schemeClr val="tx1"/>
                </a:solidFill>
              </a:rPr>
              <a:t>Head of Membership</a:t>
            </a:r>
            <a:endParaRPr lang="en-US" sz="1300" dirty="0"/>
          </a:p>
        </p:txBody>
      </p:sp>
      <p:sp>
        <p:nvSpPr>
          <p:cNvPr id="16" name="Card label So far"/>
          <p:cNvSpPr txBox="1"/>
          <p:nvPr/>
        </p:nvSpPr>
        <p:spPr>
          <a:xfrm>
            <a:off x="4297680" y="3291840"/>
            <a:ext cx="914400" cy="365760"/>
          </a:xfrm>
          <a:prstGeom prst="rect">
            <a:avLst/>
          </a:prstGeom>
          <a:noFill/>
          <a:ln/>
        </p:spPr>
        <p:txBody>
          <a:bodyPr wrap="square" lIns="0" tIns="0" rIns="0" bIns="0" rtlCol="0" anchor="ctr"/>
          <a:lstStyle/>
          <a:p>
            <a:pPr indent="0" marL="0">
              <a:buNone/>
            </a:pPr>
            <a:r>
              <a:rPr lang="en-US" sz="1000" b="1" dirty="0">
                <a:solidFill>
                  <a:schemeClr val="accent1"/>
                </a:solidFill>
              </a:rPr>
              <a:t>SO FAR</a:t>
            </a:r>
            <a:endParaRPr lang="en-US" sz="1000" dirty="0"/>
          </a:p>
        </p:txBody>
      </p:sp>
      <p:sp>
        <p:nvSpPr>
          <p:cNvPr id="17" name="Card value So far"/>
          <p:cNvSpPr txBox="1"/>
          <p:nvPr/>
        </p:nvSpPr>
        <p:spPr>
          <a:xfrm>
            <a:off x="5257800" y="3291840"/>
            <a:ext cx="3291840" cy="365760"/>
          </a:xfrm>
          <a:prstGeom prst="rect">
            <a:avLst/>
          </a:prstGeom>
          <a:noFill/>
          <a:ln/>
        </p:spPr>
        <p:txBody>
          <a:bodyPr wrap="square" lIns="0" tIns="0" rIns="0" bIns="0" rtlCol="0" anchor="ctr"/>
          <a:lstStyle/>
          <a:p>
            <a:pPr indent="0" marL="0">
              <a:buNone/>
            </a:pPr>
            <a:r>
              <a:rPr lang="en-US" sz="1300" dirty="0">
                <a:solidFill>
                  <a:schemeClr val="tx1"/>
                </a:solidFill>
              </a:rPr>
              <a:t>Intro sent, one follow-up, replied with interest</a:t>
            </a:r>
            <a:endParaRPr lang="en-US" sz="1300" dirty="0"/>
          </a:p>
        </p:txBody>
      </p:sp>
      <p:sp>
        <p:nvSpPr>
          <p:cNvPr id="18" name="Card label Meeting"/>
          <p:cNvSpPr txBox="1"/>
          <p:nvPr/>
        </p:nvSpPr>
        <p:spPr>
          <a:xfrm>
            <a:off x="4297680" y="3703320"/>
            <a:ext cx="914400" cy="365760"/>
          </a:xfrm>
          <a:prstGeom prst="rect">
            <a:avLst/>
          </a:prstGeom>
          <a:noFill/>
          <a:ln/>
        </p:spPr>
        <p:txBody>
          <a:bodyPr wrap="square" lIns="0" tIns="0" rIns="0" bIns="0" rtlCol="0" anchor="ctr"/>
          <a:lstStyle/>
          <a:p>
            <a:pPr indent="0" marL="0">
              <a:buNone/>
            </a:pPr>
            <a:r>
              <a:rPr lang="en-US" sz="1000" b="1" dirty="0">
                <a:solidFill>
                  <a:schemeClr val="accent1"/>
                </a:solidFill>
              </a:rPr>
              <a:t>MEETING</a:t>
            </a:r>
            <a:endParaRPr lang="en-US" sz="1000" dirty="0"/>
          </a:p>
        </p:txBody>
      </p:sp>
      <p:sp>
        <p:nvSpPr>
          <p:cNvPr id="19" name="Card value Meeting"/>
          <p:cNvSpPr txBox="1"/>
          <p:nvPr/>
        </p:nvSpPr>
        <p:spPr>
          <a:xfrm>
            <a:off x="5257800" y="3703320"/>
            <a:ext cx="3291840" cy="365760"/>
          </a:xfrm>
          <a:prstGeom prst="rect">
            <a:avLst/>
          </a:prstGeom>
          <a:noFill/>
          <a:ln/>
        </p:spPr>
        <p:txBody>
          <a:bodyPr wrap="square" lIns="0" tIns="0" rIns="0" bIns="0" rtlCol="0" anchor="ctr"/>
          <a:lstStyle/>
          <a:p>
            <a:pPr indent="0" marL="0">
              <a:buNone/>
            </a:pPr>
            <a:r>
              <a:rPr lang="en-US" sz="1300" dirty="0">
                <a:solidFill>
                  <a:schemeClr val="tx1"/>
                </a:solidFill>
              </a:rPr>
              <a:t>Booked, 30 minutes</a:t>
            </a:r>
            <a:endParaRPr lang="en-US" sz="1300" dirty="0"/>
          </a:p>
        </p:txBody>
      </p:sp>
      <p:sp>
        <p:nvSpPr>
          <p:cNvPr id="20" name="Card label To agree"/>
          <p:cNvSpPr txBox="1"/>
          <p:nvPr/>
        </p:nvSpPr>
        <p:spPr>
          <a:xfrm>
            <a:off x="4297680" y="4114800"/>
            <a:ext cx="914400" cy="365760"/>
          </a:xfrm>
          <a:prstGeom prst="rect">
            <a:avLst/>
          </a:prstGeom>
          <a:noFill/>
          <a:ln/>
        </p:spPr>
        <p:txBody>
          <a:bodyPr wrap="square" lIns="0" tIns="0" rIns="0" bIns="0" rtlCol="0" anchor="ctr"/>
          <a:lstStyle/>
          <a:p>
            <a:pPr indent="0" marL="0">
              <a:buNone/>
            </a:pPr>
            <a:r>
              <a:rPr lang="en-US" sz="1000" b="1" dirty="0">
                <a:solidFill>
                  <a:schemeClr val="accent1"/>
                </a:solidFill>
              </a:rPr>
              <a:t>TO AGREE</a:t>
            </a:r>
            <a:endParaRPr lang="en-US" sz="1000" dirty="0"/>
          </a:p>
        </p:txBody>
      </p:sp>
      <p:sp>
        <p:nvSpPr>
          <p:cNvPr id="21" name="Card value To agree"/>
          <p:cNvSpPr txBox="1"/>
          <p:nvPr/>
        </p:nvSpPr>
        <p:spPr>
          <a:xfrm>
            <a:off x="5257800" y="4114800"/>
            <a:ext cx="3291840" cy="365760"/>
          </a:xfrm>
          <a:prstGeom prst="rect">
            <a:avLst/>
          </a:prstGeom>
          <a:noFill/>
          <a:ln/>
        </p:spPr>
        <p:txBody>
          <a:bodyPr wrap="square" lIns="0" tIns="0" rIns="0" bIns="0" rtlCol="0" anchor="ctr"/>
          <a:lstStyle/>
          <a:p>
            <a:pPr indent="0" marL="0">
              <a:buNone/>
            </a:pPr>
            <a:r>
              <a:rPr lang="en-US" sz="1300" dirty="0">
                <a:solidFill>
                  <a:schemeClr val="tx1"/>
                </a:solidFill>
              </a:rPr>
              <a:t>Member offer and referral terms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The free trial: one client, one country</a:t>
            </a:r>
            <a:endParaRPr lang="en-US" sz="3000" dirty="0"/>
          </a:p>
        </p:txBody>
      </p:sp>
      <p:sp>
        <p:nvSpPr>
          <p:cNvPr id="3" name="Scope banner"/>
          <p:cNvSpPr txBox="1"/>
          <p:nvPr/>
        </p:nvSpPr>
        <p:spPr>
          <a:xfrm>
            <a:off x="457200" y="1005840"/>
            <a:ext cx="8229600" cy="320040"/>
          </a:xfrm>
          <a:prstGeom prst="rect">
            <a:avLst/>
          </a:prstGeom>
          <a:noFill/>
          <a:ln/>
        </p:spPr>
        <p:txBody>
          <a:bodyPr wrap="square" lIns="0" tIns="0" rIns="0" bIns="0" rtlCol="0" anchor="ctr"/>
          <a:lstStyle/>
          <a:p>
            <a:pPr indent="0" marL="0">
              <a:buNone/>
            </a:pPr>
            <a:r>
              <a:rPr lang="en-US" sz="1400" b="1" dirty="0">
                <a:solidFill>
                  <a:schemeClr val="accent1"/>
                </a:solidFill>
              </a:rPr>
              <a:t>The full pipeline covers every client type and all five markets. The free trial runs one of each.</a:t>
            </a:r>
            <a:endParaRPr lang="en-US" sz="1400" dirty="0"/>
          </a:p>
        </p:txBody>
      </p:sp>
      <p:sp>
        <p:nvSpPr>
          <p:cNvPr id="4" name="Step circle 1"/>
          <p:cNvSpPr/>
          <p:nvPr/>
        </p:nvSpPr>
        <p:spPr>
          <a:xfrm>
            <a:off x="457200" y="1554480"/>
            <a:ext cx="384048" cy="384048"/>
          </a:xfrm>
          <a:prstGeom prst="ellipse">
            <a:avLst/>
          </a:prstGeom>
          <a:solidFill>
            <a:schemeClr val="accent1"/>
          </a:solidFill>
          <a:ln/>
        </p:spPr>
      </p:sp>
      <p:sp>
        <p:nvSpPr>
          <p:cNvPr id="5" name="Step number 1"/>
          <p:cNvSpPr txBox="1"/>
          <p:nvPr/>
        </p:nvSpPr>
        <p:spPr>
          <a:xfrm>
            <a:off x="457200" y="1554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st step 1"/>
          <p:cNvSpPr txBox="1"/>
          <p:nvPr/>
        </p:nvSpPr>
        <p:spPr>
          <a:xfrm>
            <a:off x="1005840" y="1508760"/>
            <a:ext cx="4206240" cy="475488"/>
          </a:xfrm>
          <a:prstGeom prst="rect">
            <a:avLst/>
          </a:prstGeom>
          <a:noFill/>
          <a:ln/>
        </p:spPr>
        <p:txBody>
          <a:bodyPr wrap="square" lIns="0" tIns="0" rIns="0" bIns="0" rtlCol="0" anchor="ctr"/>
          <a:lstStyle/>
          <a:p>
            <a:pPr indent="0" marL="0">
              <a:buNone/>
            </a:pPr>
            <a:r>
              <a:rPr lang="en-US" sz="1400" dirty="0">
                <a:solidFill>
                  <a:schemeClr val="tx1"/>
                </a:solidFill>
              </a:rPr>
              <a:t>You choose one client type and one country</a:t>
            </a:r>
            <a:endParaRPr lang="en-US" sz="1400" dirty="0"/>
          </a:p>
        </p:txBody>
      </p:sp>
      <p:sp>
        <p:nvSpPr>
          <p:cNvPr id="7" name="Step circle 2"/>
          <p:cNvSpPr/>
          <p:nvPr/>
        </p:nvSpPr>
        <p:spPr>
          <a:xfrm>
            <a:off x="457200" y="2066544"/>
            <a:ext cx="384048" cy="384048"/>
          </a:xfrm>
          <a:prstGeom prst="ellipse">
            <a:avLst/>
          </a:prstGeom>
          <a:solidFill>
            <a:schemeClr val="accent1"/>
          </a:solidFill>
          <a:ln/>
        </p:spPr>
      </p:sp>
      <p:sp>
        <p:nvSpPr>
          <p:cNvPr id="8" name="Step number 2"/>
          <p:cNvSpPr txBox="1"/>
          <p:nvPr/>
        </p:nvSpPr>
        <p:spPr>
          <a:xfrm>
            <a:off x="457200" y="20665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st step 2"/>
          <p:cNvSpPr txBox="1"/>
          <p:nvPr/>
        </p:nvSpPr>
        <p:spPr>
          <a:xfrm>
            <a:off x="1005840" y="2020824"/>
            <a:ext cx="4206240" cy="475488"/>
          </a:xfrm>
          <a:prstGeom prst="rect">
            <a:avLst/>
          </a:prstGeom>
          <a:noFill/>
          <a:ln/>
        </p:spPr>
        <p:txBody>
          <a:bodyPr wrap="square" lIns="0" tIns="0" rIns="0" bIns="0" rtlCol="0" anchor="ctr"/>
          <a:lstStyle/>
          <a:p>
            <a:pPr indent="0" marL="0">
              <a:buNone/>
            </a:pPr>
            <a:r>
              <a:rPr lang="en-US" sz="1400" dirty="0">
                <a:solidFill>
                  <a:schemeClr val="tx1"/>
                </a:solidFill>
              </a:rPr>
              <a:t>I build a table of 30 to 50 companies in Clay</a:t>
            </a:r>
            <a:endParaRPr lang="en-US" sz="1400" dirty="0"/>
          </a:p>
        </p:txBody>
      </p:sp>
      <p:sp>
        <p:nvSpPr>
          <p:cNvPr id="10" name="Step circle 3"/>
          <p:cNvSpPr/>
          <p:nvPr/>
        </p:nvSpPr>
        <p:spPr>
          <a:xfrm>
            <a:off x="457200" y="2578608"/>
            <a:ext cx="384048" cy="384048"/>
          </a:xfrm>
          <a:prstGeom prst="ellipse">
            <a:avLst/>
          </a:prstGeom>
          <a:solidFill>
            <a:schemeClr val="accent1"/>
          </a:solidFill>
          <a:ln/>
        </p:spPr>
      </p:sp>
      <p:sp>
        <p:nvSpPr>
          <p:cNvPr id="11" name="Step number 3"/>
          <p:cNvSpPr txBox="1"/>
          <p:nvPr/>
        </p:nvSpPr>
        <p:spPr>
          <a:xfrm>
            <a:off x="457200" y="25786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st step 3"/>
          <p:cNvSpPr txBox="1"/>
          <p:nvPr/>
        </p:nvSpPr>
        <p:spPr>
          <a:xfrm>
            <a:off x="1005840" y="2532888"/>
            <a:ext cx="4206240" cy="475488"/>
          </a:xfrm>
          <a:prstGeom prst="rect">
            <a:avLst/>
          </a:prstGeom>
          <a:noFill/>
          <a:ln/>
        </p:spPr>
        <p:txBody>
          <a:bodyPr wrap="square" lIns="0" tIns="0" rIns="0" bIns="0" rtlCol="0" anchor="ctr"/>
          <a:lstStyle/>
          <a:p>
            <a:pPr indent="0" marL="0">
              <a:buNone/>
            </a:pPr>
            <a:r>
              <a:rPr lang="en-US" sz="1400" dirty="0">
                <a:solidFill>
                  <a:schemeClr val="tx1"/>
                </a:solidFill>
              </a:rPr>
              <a:t>Claygent reads each site and scores the fit</a:t>
            </a:r>
            <a:endParaRPr lang="en-US" sz="1400" dirty="0"/>
          </a:p>
        </p:txBody>
      </p:sp>
      <p:sp>
        <p:nvSpPr>
          <p:cNvPr id="13" name="Step circle 4"/>
          <p:cNvSpPr/>
          <p:nvPr/>
        </p:nvSpPr>
        <p:spPr>
          <a:xfrm>
            <a:off x="457200" y="3090672"/>
            <a:ext cx="384048" cy="384048"/>
          </a:xfrm>
          <a:prstGeom prst="ellipse">
            <a:avLst/>
          </a:prstGeom>
          <a:solidFill>
            <a:schemeClr val="accent1"/>
          </a:solidFill>
          <a:ln/>
        </p:spPr>
      </p:sp>
      <p:sp>
        <p:nvSpPr>
          <p:cNvPr id="14" name="Step number 4"/>
          <p:cNvSpPr txBox="1"/>
          <p:nvPr/>
        </p:nvSpPr>
        <p:spPr>
          <a:xfrm>
            <a:off x="457200" y="30906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st step 4"/>
          <p:cNvSpPr txBox="1"/>
          <p:nvPr/>
        </p:nvSpPr>
        <p:spPr>
          <a:xfrm>
            <a:off x="1005840" y="3044952"/>
            <a:ext cx="4206240" cy="475488"/>
          </a:xfrm>
          <a:prstGeom prst="rect">
            <a:avLst/>
          </a:prstGeom>
          <a:noFill/>
          <a:ln/>
        </p:spPr>
        <p:txBody>
          <a:bodyPr wrap="square" lIns="0" tIns="0" rIns="0" bIns="0" rtlCol="0" anchor="ctr"/>
          <a:lstStyle/>
          <a:p>
            <a:pPr indent="0" marL="0">
              <a:buNone/>
            </a:pPr>
            <a:r>
              <a:rPr lang="en-US" sz="1400" dirty="0">
                <a:solidFill>
                  <a:schemeClr val="tx1"/>
                </a:solidFill>
              </a:rPr>
              <a:t>I draft first messages for the best 10 (none sent)</a:t>
            </a:r>
            <a:endParaRPr lang="en-US" sz="1400" dirty="0"/>
          </a:p>
        </p:txBody>
      </p:sp>
      <p:sp>
        <p:nvSpPr>
          <p:cNvPr id="16" name="Step circle 5"/>
          <p:cNvSpPr/>
          <p:nvPr/>
        </p:nvSpPr>
        <p:spPr>
          <a:xfrm>
            <a:off x="457200" y="3602736"/>
            <a:ext cx="384048" cy="384048"/>
          </a:xfrm>
          <a:prstGeom prst="ellipse">
            <a:avLst/>
          </a:prstGeom>
          <a:solidFill>
            <a:schemeClr val="accent1"/>
          </a:solidFill>
          <a:ln/>
        </p:spPr>
      </p:sp>
      <p:sp>
        <p:nvSpPr>
          <p:cNvPr id="17" name="Step number 5"/>
          <p:cNvSpPr txBox="1"/>
          <p:nvPr/>
        </p:nvSpPr>
        <p:spPr>
          <a:xfrm>
            <a:off x="457200" y="36027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Test step 5"/>
          <p:cNvSpPr txBox="1"/>
          <p:nvPr/>
        </p:nvSpPr>
        <p:spPr>
          <a:xfrm>
            <a:off x="1005840" y="3557016"/>
            <a:ext cx="4206240" cy="475488"/>
          </a:xfrm>
          <a:prstGeom prst="rect">
            <a:avLst/>
          </a:prstGeom>
          <a:noFill/>
          <a:ln/>
        </p:spPr>
        <p:txBody>
          <a:bodyPr wrap="square" lIns="0" tIns="0" rIns="0" bIns="0" rtlCol="0" anchor="ctr"/>
          <a:lstStyle/>
          <a:p>
            <a:pPr indent="0" marL="0">
              <a:buNone/>
            </a:pPr>
            <a:r>
              <a:rPr lang="en-US" sz="1400" dirty="0">
                <a:solidFill>
                  <a:schemeClr val="tx1"/>
                </a:solidFill>
              </a:rPr>
              <a:t>I prepare a sample deal card for you</a:t>
            </a:r>
            <a:endParaRPr lang="en-US" sz="1400" dirty="0"/>
          </a:p>
        </p:txBody>
      </p:sp>
      <p:sp>
        <p:nvSpPr>
          <p:cNvPr id="19" name="Step circle 6"/>
          <p:cNvSpPr/>
          <p:nvPr/>
        </p:nvSpPr>
        <p:spPr>
          <a:xfrm>
            <a:off x="457200" y="4114800"/>
            <a:ext cx="384048" cy="384048"/>
          </a:xfrm>
          <a:prstGeom prst="ellipse">
            <a:avLst/>
          </a:prstGeom>
          <a:solidFill>
            <a:schemeClr val="accent1"/>
          </a:solidFill>
          <a:ln/>
        </p:spPr>
      </p:sp>
      <p:sp>
        <p:nvSpPr>
          <p:cNvPr id="20" name="Step number 6"/>
          <p:cNvSpPr txBox="1"/>
          <p:nvPr/>
        </p:nvSpPr>
        <p:spPr>
          <a:xfrm>
            <a:off x="457200" y="4114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1" name="Test step 6"/>
          <p:cNvSpPr txBox="1"/>
          <p:nvPr/>
        </p:nvSpPr>
        <p:spPr>
          <a:xfrm>
            <a:off x="1005840" y="4069080"/>
            <a:ext cx="4206240" cy="475488"/>
          </a:xfrm>
          <a:prstGeom prst="rect">
            <a:avLst/>
          </a:prstGeom>
          <a:noFill/>
          <a:ln/>
        </p:spPr>
        <p:txBody>
          <a:bodyPr wrap="square" lIns="0" tIns="0" rIns="0" bIns="0" rtlCol="0" anchor="ctr"/>
          <a:lstStyle/>
          <a:p>
            <a:pPr indent="0" marL="0">
              <a:buNone/>
            </a:pPr>
            <a:r>
              <a:rPr lang="en-US" sz="1400" dirty="0">
                <a:solidFill>
                  <a:schemeClr val="tx1"/>
                </a:solidFill>
              </a:rPr>
              <a:t>We review the results together</a:t>
            </a:r>
            <a:endParaRPr lang="en-US" sz="1400" dirty="0"/>
          </a:p>
        </p:txBody>
      </p:sp>
      <p:sp>
        <p:nvSpPr>
          <p:cNvPr id="22" name="Good looks like card"/>
          <p:cNvSpPr/>
          <p:nvPr/>
        </p:nvSpPr>
        <p:spPr>
          <a:xfrm>
            <a:off x="5394960" y="1508760"/>
            <a:ext cx="3291840" cy="3108960"/>
          </a:xfrm>
          <a:prstGeom prst="roundRect">
            <a:avLst>
              <a:gd name="adj" fmla="val 3529"/>
            </a:avLst>
          </a:prstGeom>
          <a:solidFill>
            <a:schemeClr val="tx2"/>
          </a:solidFill>
          <a:ln/>
        </p:spPr>
      </p:sp>
      <p:sp>
        <p:nvSpPr>
          <p:cNvPr id="23" name="Good heading"/>
          <p:cNvSpPr txBox="1"/>
          <p:nvPr/>
        </p:nvSpPr>
        <p:spPr>
          <a:xfrm>
            <a:off x="5623560" y="1627632"/>
            <a:ext cx="2834640" cy="365760"/>
          </a:xfrm>
          <a:prstGeom prst="rect">
            <a:avLst/>
          </a:prstGeom>
          <a:noFill/>
          <a:ln/>
        </p:spPr>
        <p:txBody>
          <a:bodyPr wrap="square" lIns="0" tIns="0" rIns="0" bIns="0" rtlCol="0" anchor="ctr"/>
          <a:lstStyle/>
          <a:p>
            <a:pPr indent="0" marL="0">
              <a:buNone/>
            </a:pPr>
            <a:r>
              <a:rPr lang="en-US" sz="1800" b="1" dirty="0">
                <a:solidFill>
                  <a:schemeClr val="bg1"/>
                </a:solidFill>
              </a:rPr>
              <a:t>What good looks like</a:t>
            </a:r>
            <a:endParaRPr lang="en-US" sz="1800" dirty="0"/>
          </a:p>
        </p:txBody>
      </p:sp>
      <p:sp>
        <p:nvSpPr>
          <p:cNvPr id="24" name="Good list"/>
          <p:cNvSpPr txBox="1"/>
          <p:nvPr/>
        </p:nvSpPr>
        <p:spPr>
          <a:xfrm>
            <a:off x="5623560" y="2103120"/>
            <a:ext cx="283464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Most of the top 10 look like clients you would want</a:t>
            </a:r>
            <a:endParaRPr lang="en-US" sz="1400" dirty="0"/>
          </a:p>
          <a:p>
            <a:pPr marL="342900" indent="-342900">
              <a:spcAft>
                <a:spcPts val="500"/>
              </a:spcAft>
              <a:buSzPct val="100000"/>
              <a:buChar char="•"/>
            </a:pPr>
            <a:r>
              <a:rPr lang="en-US" sz="1400" dirty="0">
                <a:solidFill>
                  <a:schemeClr val="bg1"/>
                </a:solidFill>
              </a:rPr>
              <a:t>The deal card is clear in under a minute</a:t>
            </a:r>
            <a:endParaRPr lang="en-US" sz="1400" dirty="0"/>
          </a:p>
          <a:p>
            <a:pPr marL="342900" indent="-342900">
              <a:spcAft>
                <a:spcPts val="500"/>
              </a:spcAft>
              <a:buSzPct val="100000"/>
              <a:buChar char="•"/>
            </a:pPr>
            <a:r>
              <a:rPr lang="en-US" sz="1400" dirty="0">
                <a:solidFill>
                  <a:schemeClr val="bg1"/>
                </a:solidFill>
              </a:rPr>
              <a:t>Public company information only</a:t>
            </a:r>
            <a:endParaRPr lang="en-US" sz="1400" dirty="0"/>
          </a:p>
          <a:p>
            <a:pPr marL="342900" indent="-342900">
              <a:spcAft>
                <a:spcPts val="500"/>
              </a:spcAft>
              <a:buSzPct val="100000"/>
              <a:buChar char="•"/>
            </a:pPr>
            <a:r>
              <a:rPr lang="en-US" sz="1400" dirty="0">
                <a:solidFill>
                  <a:schemeClr val="bg1"/>
                </a:solidFill>
              </a:rPr>
              <a:t>Nothing is sent to anyone</a:t>
            </a:r>
            <a:endParaRPr lang="en-US" sz="1400" dirty="0"/>
          </a:p>
        </p:txBody>
      </p:sp>
      <p:sp>
        <p:nvSpPr>
          <p:cNvPr id="25" name="Good limit"/>
          <p:cNvSpPr txBox="1"/>
          <p:nvPr/>
        </p:nvSpPr>
        <p:spPr>
          <a:xfrm>
            <a:off x="5623560" y="3657600"/>
            <a:ext cx="2834640" cy="868680"/>
          </a:xfrm>
          <a:prstGeom prst="rect">
            <a:avLst/>
          </a:prstGeom>
          <a:noFill/>
          <a:ln/>
        </p:spPr>
        <p:txBody>
          <a:bodyPr wrap="square" lIns="0" tIns="0" rIns="0" bIns="0" rtlCol="0" anchor="t"/>
          <a:lstStyle/>
          <a:p>
            <a:pPr indent="0" marL="0">
              <a:buNone/>
            </a:pPr>
            <a:r>
              <a:rPr lang="en-US" sz="1200" dirty="0">
                <a:solidFill>
                  <a:schemeClr val="accent2"/>
                </a:solidFill>
              </a:rPr>
              <a:t>Why one: the free plan caps volume (100 data credits a month). Clay's Attio link may need a paid plan, so I would copy results across by hand.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Free to try, safe by design</a:t>
            </a:r>
            <a:endParaRPr lang="en-US" sz="3000" dirty="0"/>
          </a:p>
        </p:txBody>
      </p:sp>
      <p:sp>
        <p:nvSpPr>
          <p:cNvPr id="3" name="Cost label"/>
          <p:cNvSpPr txBox="1"/>
          <p:nvPr/>
        </p:nvSpPr>
        <p:spPr>
          <a:xfrm>
            <a:off x="457200" y="1097280"/>
            <a:ext cx="4023360" cy="228600"/>
          </a:xfrm>
          <a:prstGeom prst="rect">
            <a:avLst/>
          </a:prstGeom>
          <a:noFill/>
          <a:ln/>
        </p:spPr>
        <p:txBody>
          <a:bodyPr wrap="square" lIns="0" tIns="0" rIns="0" bIns="0" rtlCol="0" anchor="ctr"/>
          <a:lstStyle/>
          <a:p>
            <a:pPr indent="0" marL="0">
              <a:buNone/>
            </a:pPr>
            <a:r>
              <a:rPr lang="en-US" sz="1100" b="1" dirty="0">
                <a:solidFill>
                  <a:schemeClr val="accent1"/>
                </a:solidFill>
              </a:rPr>
              <a:t>WHAT IT COSTS</a:t>
            </a:r>
            <a:endParaRPr lang="en-US" sz="1100" dirty="0"/>
          </a:p>
        </p:txBody>
      </p:sp>
      <p:sp>
        <p:nvSpPr>
          <p:cNvPr id="4" name="Cost row 1"/>
          <p:cNvSpPr/>
          <p:nvPr/>
        </p:nvSpPr>
        <p:spPr>
          <a:xfrm>
            <a:off x="457200" y="1371600"/>
            <a:ext cx="4023360" cy="914400"/>
          </a:xfrm>
          <a:prstGeom prst="roundRect">
            <a:avLst>
              <a:gd name="adj" fmla="val 10000"/>
            </a:avLst>
          </a:prstGeom>
          <a:solidFill>
            <a:schemeClr val="bg2"/>
          </a:solidFill>
          <a:ln/>
        </p:spPr>
      </p:sp>
      <p:sp>
        <p:nvSpPr>
          <p:cNvPr id="5" name="Cost figure 1"/>
          <p:cNvSpPr txBox="1"/>
          <p:nvPr/>
        </p:nvSpPr>
        <p:spPr>
          <a:xfrm>
            <a:off x="640080" y="1444752"/>
            <a:ext cx="3657600" cy="365760"/>
          </a:xfrm>
          <a:prstGeom prst="rect">
            <a:avLst/>
          </a:prstGeom>
          <a:noFill/>
          <a:ln/>
        </p:spPr>
        <p:txBody>
          <a:bodyPr wrap="square" lIns="0" tIns="0" rIns="0" bIns="0" rtlCol="0" anchor="ctr"/>
          <a:lstStyle/>
          <a:p>
            <a:pPr indent="0" marL="0">
              <a:buNone/>
            </a:pPr>
            <a:r>
              <a:rPr lang="en-US" sz="1800" b="1" dirty="0">
                <a:solidFill>
                  <a:schemeClr val="tx2"/>
                </a:solidFill>
              </a:rPr>
              <a:t>$0</a:t>
            </a:r>
            <a:endParaRPr lang="en-US" sz="1800" dirty="0"/>
          </a:p>
        </p:txBody>
      </p:sp>
      <p:sp>
        <p:nvSpPr>
          <p:cNvPr id="6" name="Cost text 1"/>
          <p:cNvSpPr txBox="1"/>
          <p:nvPr/>
        </p:nvSpPr>
        <p:spPr>
          <a:xfrm>
            <a:off x="640080" y="1828800"/>
            <a:ext cx="3657600" cy="411480"/>
          </a:xfrm>
          <a:prstGeom prst="rect">
            <a:avLst/>
          </a:prstGeom>
          <a:noFill/>
          <a:ln/>
        </p:spPr>
        <p:txBody>
          <a:bodyPr wrap="square" lIns="0" tIns="0" rIns="0" bIns="0" rtlCol="0" anchor="t"/>
          <a:lstStyle/>
          <a:p>
            <a:pPr indent="0" marL="0">
              <a:buNone/>
            </a:pPr>
            <a:r>
              <a:rPr lang="en-US" sz="1300" dirty="0">
                <a:solidFill>
                  <a:schemeClr val="tx1"/>
                </a:solidFill>
              </a:rPr>
              <a:t>The free test: Clay's free plan, public data</a:t>
            </a:r>
            <a:endParaRPr lang="en-US" sz="1300" dirty="0"/>
          </a:p>
        </p:txBody>
      </p:sp>
      <p:sp>
        <p:nvSpPr>
          <p:cNvPr id="7" name="Cost row 2"/>
          <p:cNvSpPr/>
          <p:nvPr/>
        </p:nvSpPr>
        <p:spPr>
          <a:xfrm>
            <a:off x="457200" y="2423160"/>
            <a:ext cx="4023360" cy="914400"/>
          </a:xfrm>
          <a:prstGeom prst="roundRect">
            <a:avLst>
              <a:gd name="adj" fmla="val 10000"/>
            </a:avLst>
          </a:prstGeom>
          <a:solidFill>
            <a:schemeClr val="bg2"/>
          </a:solidFill>
          <a:ln/>
        </p:spPr>
      </p:sp>
      <p:sp>
        <p:nvSpPr>
          <p:cNvPr id="8" name="Cost figure 2"/>
          <p:cNvSpPr txBox="1"/>
          <p:nvPr/>
        </p:nvSpPr>
        <p:spPr>
          <a:xfrm>
            <a:off x="640080" y="2496312"/>
            <a:ext cx="3657600" cy="365760"/>
          </a:xfrm>
          <a:prstGeom prst="rect">
            <a:avLst/>
          </a:prstGeom>
          <a:noFill/>
          <a:ln/>
        </p:spPr>
        <p:txBody>
          <a:bodyPr wrap="square" lIns="0" tIns="0" rIns="0" bIns="0" rtlCol="0" anchor="ctr"/>
          <a:lstStyle/>
          <a:p>
            <a:pPr indent="0" marL="0">
              <a:buNone/>
            </a:pPr>
            <a:r>
              <a:rPr lang="en-US" sz="1800" b="1" dirty="0">
                <a:solidFill>
                  <a:schemeClr val="tx2"/>
                </a:solidFill>
              </a:rPr>
              <a:t>After the test</a:t>
            </a:r>
            <a:endParaRPr lang="en-US" sz="1800" dirty="0"/>
          </a:p>
        </p:txBody>
      </p:sp>
      <p:sp>
        <p:nvSpPr>
          <p:cNvPr id="9" name="Cost text 2"/>
          <p:cNvSpPr txBox="1"/>
          <p:nvPr/>
        </p:nvSpPr>
        <p:spPr>
          <a:xfrm>
            <a:off x="640080" y="2880360"/>
            <a:ext cx="3657600" cy="411480"/>
          </a:xfrm>
          <a:prstGeom prst="rect">
            <a:avLst/>
          </a:prstGeom>
          <a:noFill/>
          <a:ln/>
        </p:spPr>
        <p:txBody>
          <a:bodyPr wrap="square" lIns="0" tIns="0" rIns="0" bIns="0" rtlCol="0" anchor="t"/>
          <a:lstStyle/>
          <a:p>
            <a:pPr indent="0" marL="0">
              <a:buNone/>
            </a:pPr>
            <a:r>
              <a:rPr lang="en-US" sz="1300" dirty="0">
                <a:solidFill>
                  <a:schemeClr val="tx1"/>
                </a:solidFill>
              </a:rPr>
              <a:t>Our own build, priced once we know the volume</a:t>
            </a:r>
            <a:endParaRPr lang="en-US" sz="1300" dirty="0"/>
          </a:p>
        </p:txBody>
      </p:sp>
      <p:sp>
        <p:nvSpPr>
          <p:cNvPr id="10" name="Cost row 3"/>
          <p:cNvSpPr/>
          <p:nvPr/>
        </p:nvSpPr>
        <p:spPr>
          <a:xfrm>
            <a:off x="457200" y="3474720"/>
            <a:ext cx="4023360" cy="914400"/>
          </a:xfrm>
          <a:prstGeom prst="roundRect">
            <a:avLst>
              <a:gd name="adj" fmla="val 10000"/>
            </a:avLst>
          </a:prstGeom>
          <a:solidFill>
            <a:schemeClr val="bg2"/>
          </a:solidFill>
          <a:ln/>
        </p:spPr>
      </p:sp>
      <p:sp>
        <p:nvSpPr>
          <p:cNvPr id="11" name="Cost figure 3"/>
          <p:cNvSpPr txBox="1"/>
          <p:nvPr/>
        </p:nvSpPr>
        <p:spPr>
          <a:xfrm>
            <a:off x="640080" y="3547872"/>
            <a:ext cx="3657600" cy="365760"/>
          </a:xfrm>
          <a:prstGeom prst="rect">
            <a:avLst/>
          </a:prstGeom>
          <a:noFill/>
          <a:ln/>
        </p:spPr>
        <p:txBody>
          <a:bodyPr wrap="square" lIns="0" tIns="0" rIns="0" bIns="0" rtlCol="0" anchor="ctr"/>
          <a:lstStyle/>
          <a:p>
            <a:pPr indent="0" marL="0">
              <a:buNone/>
            </a:pPr>
            <a:r>
              <a:rPr lang="en-US" sz="1800" b="1" dirty="0">
                <a:solidFill>
                  <a:schemeClr val="tx2"/>
                </a:solidFill>
              </a:rPr>
              <a:t>From about $167</a:t>
            </a:r>
            <a:endParaRPr lang="en-US" sz="1800" dirty="0"/>
          </a:p>
        </p:txBody>
      </p:sp>
      <p:sp>
        <p:nvSpPr>
          <p:cNvPr id="12" name="Cost text 3"/>
          <p:cNvSpPr txBox="1"/>
          <p:nvPr/>
        </p:nvSpPr>
        <p:spPr>
          <a:xfrm>
            <a:off x="640080" y="3931920"/>
            <a:ext cx="3657600" cy="411480"/>
          </a:xfrm>
          <a:prstGeom prst="rect">
            <a:avLst/>
          </a:prstGeom>
          <a:noFill/>
          <a:ln/>
        </p:spPr>
        <p:txBody>
          <a:bodyPr wrap="square" lIns="0" tIns="0" rIns="0" bIns="0" rtlCol="0" anchor="t"/>
          <a:lstStyle/>
          <a:p>
            <a:pPr indent="0" marL="0">
              <a:buNone/>
            </a:pPr>
            <a:r>
              <a:rPr lang="en-US" sz="1300" dirty="0">
                <a:solidFill>
                  <a:schemeClr val="tx1"/>
                </a:solidFill>
              </a:rPr>
              <a:t>Clay paid plans, per month; its pricing page shows differing figures</a:t>
            </a:r>
            <a:endParaRPr lang="en-US" sz="1300" dirty="0"/>
          </a:p>
        </p:txBody>
      </p:sp>
      <p:sp>
        <p:nvSpPr>
          <p:cNvPr id="13" name="Safety label"/>
          <p:cNvSpPr txBox="1"/>
          <p:nvPr/>
        </p:nvSpPr>
        <p:spPr>
          <a:xfrm>
            <a:off x="4754880" y="1097280"/>
            <a:ext cx="3931920" cy="228600"/>
          </a:xfrm>
          <a:prstGeom prst="rect">
            <a:avLst/>
          </a:prstGeom>
          <a:noFill/>
          <a:ln/>
        </p:spPr>
        <p:txBody>
          <a:bodyPr wrap="square" lIns="0" tIns="0" rIns="0" bIns="0" rtlCol="0" anchor="ctr"/>
          <a:lstStyle/>
          <a:p>
            <a:pPr indent="0" marL="0">
              <a:buNone/>
            </a:pPr>
            <a:r>
              <a:rPr lang="en-US" sz="1100" b="1" dirty="0">
                <a:solidFill>
                  <a:schemeClr val="accent1"/>
                </a:solidFill>
              </a:rPr>
              <a:t>HOW IT STAYS SAFE</a:t>
            </a:r>
            <a:endParaRPr lang="en-US" sz="1100" dirty="0"/>
          </a:p>
        </p:txBody>
      </p:sp>
      <p:sp>
        <p:nvSpPr>
          <p:cNvPr id="14" name="Safe tick circle 1"/>
          <p:cNvSpPr/>
          <p:nvPr/>
        </p:nvSpPr>
        <p:spPr>
          <a:xfrm>
            <a:off x="4754880" y="1417320"/>
            <a:ext cx="365760" cy="365760"/>
          </a:xfrm>
          <a:prstGeom prst="ellipse">
            <a:avLst/>
          </a:prstGeom>
          <a:solidFill>
            <a:schemeClr val="accent1"/>
          </a:solidFill>
          <a:ln/>
        </p:spPr>
      </p:sp>
      <p:pic>
        <p:nvPicPr>
          <p:cNvPr id="15" name="Image 0" descr="tick">    </p:cNvPr>
          <p:cNvPicPr>
            <a:picLocks noChangeAspect="1"/>
          </p:cNvPicPr>
          <p:nvPr/>
        </p:nvPicPr>
        <p:blipFill>
          <a:blip r:embed="rId1"/>
          <a:stretch>
            <a:fillRect/>
          </a:stretch>
        </p:blipFill>
        <p:spPr>
          <a:xfrm>
            <a:off x="4846320" y="1508760"/>
            <a:ext cx="182880" cy="182880"/>
          </a:xfrm>
          <a:prstGeom prst="rect">
            <a:avLst/>
          </a:prstGeom>
        </p:spPr>
      </p:pic>
      <p:sp>
        <p:nvSpPr>
          <p:cNvPr id="16" name="Safe No health data"/>
          <p:cNvSpPr txBox="1"/>
          <p:nvPr/>
        </p:nvSpPr>
        <p:spPr>
          <a:xfrm>
            <a:off x="5303520" y="1371600"/>
            <a:ext cx="3383280" cy="731520"/>
          </a:xfrm>
          <a:prstGeom prst="rect">
            <a:avLst/>
          </a:prstGeom>
          <a:noFill/>
          <a:ln/>
        </p:spPr>
        <p:txBody>
          <a:bodyPr wrap="square" lIns="0" tIns="0" rIns="0" bIns="0" rtlCol="0" anchor="t"/>
          <a:lstStyle/>
          <a:p>
            <a:pPr indent="0" marL="0">
              <a:buNone/>
            </a:pPr>
            <a:r>
              <a:rPr lang="en-US" sz="1500" b="1" dirty="0">
                <a:solidFill>
                  <a:schemeClr val="tx2"/>
                </a:solidFill>
              </a:rPr>
              <a:t>No health data</a:t>
            </a:r>
            <a:endParaRPr lang="en-US" sz="1500" dirty="0"/>
          </a:p>
          <a:p>
            <a:pPr indent="0" marL="0">
              <a:buNone/>
            </a:pPr>
            <a:r>
              <a:rPr lang="en-US" sz="1300" dirty="0">
                <a:solidFill>
                  <a:schemeClr val="tx1"/>
                </a:solidFill>
              </a:rPr>
              <a:t>No customer or member data goes into any tool.</a:t>
            </a:r>
            <a:endParaRPr lang="en-US" sz="1500" dirty="0"/>
          </a:p>
        </p:txBody>
      </p:sp>
      <p:sp>
        <p:nvSpPr>
          <p:cNvPr id="17" name="Safe tick circle 2"/>
          <p:cNvSpPr/>
          <p:nvPr/>
        </p:nvSpPr>
        <p:spPr>
          <a:xfrm>
            <a:off x="4754880" y="2221992"/>
            <a:ext cx="365760" cy="365760"/>
          </a:xfrm>
          <a:prstGeom prst="ellipse">
            <a:avLst/>
          </a:prstGeom>
          <a:solidFill>
            <a:schemeClr val="accent1"/>
          </a:solidFill>
          <a:ln/>
        </p:spPr>
      </p:sp>
      <p:pic>
        <p:nvPicPr>
          <p:cNvPr id="18" name="Image 1" descr="tick">    </p:cNvPr>
          <p:cNvPicPr>
            <a:picLocks noChangeAspect="1"/>
          </p:cNvPicPr>
          <p:nvPr/>
        </p:nvPicPr>
        <p:blipFill>
          <a:blip r:embed="rId2"/>
          <a:stretch>
            <a:fillRect/>
          </a:stretch>
        </p:blipFill>
        <p:spPr>
          <a:xfrm>
            <a:off x="4846320" y="2313432"/>
            <a:ext cx="182880" cy="182880"/>
          </a:xfrm>
          <a:prstGeom prst="rect">
            <a:avLst/>
          </a:prstGeom>
        </p:spPr>
      </p:pic>
      <p:sp>
        <p:nvSpPr>
          <p:cNvPr id="19" name="Safe Public information only"/>
          <p:cNvSpPr txBox="1"/>
          <p:nvPr/>
        </p:nvSpPr>
        <p:spPr>
          <a:xfrm>
            <a:off x="5303520" y="2176272"/>
            <a:ext cx="3383280" cy="731520"/>
          </a:xfrm>
          <a:prstGeom prst="rect">
            <a:avLst/>
          </a:prstGeom>
          <a:noFill/>
          <a:ln/>
        </p:spPr>
        <p:txBody>
          <a:bodyPr wrap="square" lIns="0" tIns="0" rIns="0" bIns="0" rtlCol="0" anchor="t"/>
          <a:lstStyle/>
          <a:p>
            <a:pPr indent="0" marL="0">
              <a:buNone/>
            </a:pPr>
            <a:r>
              <a:rPr lang="en-US" sz="1500" b="1" dirty="0">
                <a:solidFill>
                  <a:schemeClr val="tx2"/>
                </a:solidFill>
              </a:rPr>
              <a:t>Public information only</a:t>
            </a:r>
            <a:endParaRPr lang="en-US" sz="1500" dirty="0"/>
          </a:p>
          <a:p>
            <a:pPr indent="0" marL="0">
              <a:buNone/>
            </a:pPr>
            <a:r>
              <a:rPr lang="en-US" sz="1300" dirty="0">
                <a:solidFill>
                  <a:schemeClr val="tx1"/>
                </a:solidFill>
              </a:rPr>
              <a:t>Company websites and public business details.</a:t>
            </a:r>
            <a:endParaRPr lang="en-US" sz="1500" dirty="0"/>
          </a:p>
        </p:txBody>
      </p:sp>
      <p:sp>
        <p:nvSpPr>
          <p:cNvPr id="20" name="Safe tick circle 3"/>
          <p:cNvSpPr/>
          <p:nvPr/>
        </p:nvSpPr>
        <p:spPr>
          <a:xfrm>
            <a:off x="4754880" y="3026664"/>
            <a:ext cx="365760" cy="365760"/>
          </a:xfrm>
          <a:prstGeom prst="ellipse">
            <a:avLst/>
          </a:prstGeom>
          <a:solidFill>
            <a:schemeClr val="accent1"/>
          </a:solidFill>
          <a:ln/>
        </p:spPr>
      </p:sp>
      <p:pic>
        <p:nvPicPr>
          <p:cNvPr id="21" name="Image 2" descr="tick">    </p:cNvPr>
          <p:cNvPicPr>
            <a:picLocks noChangeAspect="1"/>
          </p:cNvPicPr>
          <p:nvPr/>
        </p:nvPicPr>
        <p:blipFill>
          <a:blip r:embed="rId3"/>
          <a:stretch>
            <a:fillRect/>
          </a:stretch>
        </p:blipFill>
        <p:spPr>
          <a:xfrm>
            <a:off x="4846320" y="3118104"/>
            <a:ext cx="182880" cy="182880"/>
          </a:xfrm>
          <a:prstGeom prst="rect">
            <a:avLst/>
          </a:prstGeom>
        </p:spPr>
      </p:pic>
      <p:sp>
        <p:nvSpPr>
          <p:cNvPr id="22" name="Safe A person approves"/>
          <p:cNvSpPr txBox="1"/>
          <p:nvPr/>
        </p:nvSpPr>
        <p:spPr>
          <a:xfrm>
            <a:off x="5303520" y="2980944"/>
            <a:ext cx="3383280" cy="731520"/>
          </a:xfrm>
          <a:prstGeom prst="rect">
            <a:avLst/>
          </a:prstGeom>
          <a:noFill/>
          <a:ln/>
        </p:spPr>
        <p:txBody>
          <a:bodyPr wrap="square" lIns="0" tIns="0" rIns="0" bIns="0" rtlCol="0" anchor="t"/>
          <a:lstStyle/>
          <a:p>
            <a:pPr indent="0" marL="0">
              <a:buNone/>
            </a:pPr>
            <a:r>
              <a:rPr lang="en-US" sz="1500" b="1" dirty="0">
                <a:solidFill>
                  <a:schemeClr val="tx2"/>
                </a:solidFill>
              </a:rPr>
              <a:t>A person approves</a:t>
            </a:r>
            <a:endParaRPr lang="en-US" sz="1500" dirty="0"/>
          </a:p>
          <a:p>
            <a:pPr indent="0" marL="0">
              <a:buNone/>
            </a:pPr>
            <a:r>
              <a:rPr lang="en-US" sz="1300" dirty="0">
                <a:solidFill>
                  <a:schemeClr val="tx1"/>
                </a:solidFill>
              </a:rPr>
              <a:t>The tool drafts. Nothing leaves without a person.</a:t>
            </a:r>
            <a:endParaRPr lang="en-US" sz="1500" dirty="0"/>
          </a:p>
        </p:txBody>
      </p:sp>
      <p:sp>
        <p:nvSpPr>
          <p:cNvPr id="23" name="Safe tick circle 4"/>
          <p:cNvSpPr/>
          <p:nvPr/>
        </p:nvSpPr>
        <p:spPr>
          <a:xfrm>
            <a:off x="4754880" y="3831336"/>
            <a:ext cx="365760" cy="365760"/>
          </a:xfrm>
          <a:prstGeom prst="ellipse">
            <a:avLst/>
          </a:prstGeom>
          <a:solidFill>
            <a:schemeClr val="accent1"/>
          </a:solidFill>
          <a:ln/>
        </p:spPr>
      </p:sp>
      <p:pic>
        <p:nvPicPr>
          <p:cNvPr id="24" name="Image 3" descr="tick">    </p:cNvPr>
          <p:cNvPicPr>
            <a:picLocks noChangeAspect="1"/>
          </p:cNvPicPr>
          <p:nvPr/>
        </p:nvPicPr>
        <p:blipFill>
          <a:blip r:embed="rId4"/>
          <a:stretch>
            <a:fillRect/>
          </a:stretch>
        </p:blipFill>
        <p:spPr>
          <a:xfrm>
            <a:off x="4846320" y="3922776"/>
            <a:ext cx="182880" cy="182880"/>
          </a:xfrm>
          <a:prstGeom prst="rect">
            <a:avLst/>
          </a:prstGeom>
        </p:spPr>
      </p:pic>
      <p:sp>
        <p:nvSpPr>
          <p:cNvPr id="25" name="Safe Rules checked first"/>
          <p:cNvSpPr txBox="1"/>
          <p:nvPr/>
        </p:nvSpPr>
        <p:spPr>
          <a:xfrm>
            <a:off x="5303520" y="3785616"/>
            <a:ext cx="3383280" cy="731520"/>
          </a:xfrm>
          <a:prstGeom prst="rect">
            <a:avLst/>
          </a:prstGeom>
          <a:noFill/>
          <a:ln/>
        </p:spPr>
        <p:txBody>
          <a:bodyPr wrap="square" lIns="0" tIns="0" rIns="0" bIns="0" rtlCol="0" anchor="t"/>
          <a:lstStyle/>
          <a:p>
            <a:pPr indent="0" marL="0">
              <a:buNone/>
            </a:pPr>
            <a:r>
              <a:rPr lang="en-US" sz="1500" b="1" dirty="0">
                <a:solidFill>
                  <a:schemeClr val="tx2"/>
                </a:solidFill>
              </a:rPr>
              <a:t>Rules checked first</a:t>
            </a:r>
            <a:endParaRPr lang="en-US" sz="1500" dirty="0"/>
          </a:p>
          <a:p>
            <a:pPr indent="0" marL="0">
              <a:buNone/>
            </a:pPr>
            <a:r>
              <a:rPr lang="en-US" sz="1300" dirty="0">
                <a:solidFill>
                  <a:schemeClr val="tx1"/>
                </a:solidFill>
              </a:rPr>
              <a:t>Outreach rules differ by country; confirmed before any real sending.</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640080" y="1417320"/>
            <a:ext cx="7680960" cy="1737360"/>
          </a:xfrm>
          <a:prstGeom prst="rect">
            <a:avLst/>
          </a:prstGeom>
          <a:noFill/>
          <a:ln/>
        </p:spPr>
        <p:txBody>
          <a:bodyPr wrap="square" lIns="0" tIns="0" rIns="0" bIns="0" rtlCol="0" anchor="ctr"/>
          <a:lstStyle/>
          <a:p>
            <a:pPr algn="l" indent="0" marL="0">
              <a:buNone/>
            </a:pPr>
            <a:r>
              <a:rPr lang="en-US" sz="4600" b="1" dirty="0">
                <a:solidFill>
                  <a:schemeClr val="bg1"/>
                </a:solidFill>
              </a:rPr>
              <a:t>Let's run the free test</a:t>
            </a:r>
            <a:endParaRPr lang="en-US" sz="4600" dirty="0"/>
          </a:p>
        </p:txBody>
      </p:sp>
    </p:spTree>
  </p:cSld>
  <p:clrMapOvr>
    <a:masterClrMapping/>
  </p:clrMapOvr>
</p:sld>
</file>

<file path=ppt/theme/theme1.xml><?xml version="1.0" encoding="utf-8"?>
<a:theme xmlns:a="http://schemas.openxmlformats.org/drawingml/2006/main" name="Axo Client Finder">
  <a:themeElements>
    <a:clrScheme name="Axo Client Finder">
      <a:dk1>
        <a:srgbClr val="10272B"/>
      </a:dk1>
      <a:lt1>
        <a:srgbClr val="FFFFFF"/>
      </a:lt1>
      <a:dk2>
        <a:srgbClr val="0E4A4A"/>
      </a:dk2>
      <a:lt2>
        <a:srgbClr val="EAF4F1"/>
      </a:lt2>
      <a:accent1>
        <a:srgbClr val="13867F"/>
      </a:accent1>
      <a:accent2>
        <a:srgbClr val="F2A154"/>
      </a:accent2>
      <a:accent3>
        <a:srgbClr val="2A9D8F"/>
      </a:accent3>
      <a:accent4>
        <a:srgbClr val="E76F51"/>
      </a:accent4>
      <a:accent5>
        <a:srgbClr val="264653"/>
      </a:accent5>
      <a:accent6>
        <a:srgbClr val="8AB17D"/>
      </a:accent6>
      <a:hlink>
        <a:srgbClr val="13867F"/>
      </a:hlink>
      <a:folHlink>
        <a:srgbClr val="0E4A4A"/>
      </a:folHlink>
    </a:clrScheme>
    <a:fontScheme name="Axo Client Fin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client pipeline for Axo</dc:title>
  <dc:subject>PptxGenJS Presentation</dc:subject>
  <dc:creator>Ilmah</dc:creator>
  <cp:lastModifiedBy>Ilmah</cp:lastModifiedBy>
  <cp:revision>1</cp:revision>
  <dcterms:created xsi:type="dcterms:W3CDTF">2026-10-28T09:52:04Z</dcterms:created>
  <dcterms:modified xsi:type="dcterms:W3CDTF">2026-10-28T09:52:04Z</dcterms:modified>
</cp:coreProperties>
</file>